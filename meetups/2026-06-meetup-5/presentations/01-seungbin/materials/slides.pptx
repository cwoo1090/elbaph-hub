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148" r:id="rId2"/>
    <p:sldId id="2267" r:id="rId3"/>
    <p:sldId id="2298" r:id="rId4"/>
    <p:sldId id="2299" r:id="rId5"/>
    <p:sldId id="2300" r:id="rId6"/>
    <p:sldId id="2301" r:id="rId7"/>
    <p:sldId id="2302" r:id="rId8"/>
    <p:sldId id="2303" r:id="rId9"/>
    <p:sldId id="2304" r:id="rId10"/>
    <p:sldId id="2305" r:id="rId11"/>
    <p:sldId id="2306" r:id="rId12"/>
    <p:sldId id="229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C273E-0102-C047-8EF3-400D3EC4DB38}" v="1610" dt="2026-06-19T22:23:57.151"/>
    <p1510:client id="{50494C65-F5C5-5A13-45E3-AF815970575F}" v="360" dt="2026-06-19T14:44:36.476"/>
    <p1510:client id="{E3613E9E-609F-C799-8449-6B1F2BF133CC}" v="68" dt="2026-06-19T08:48:06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75" autoAdjust="0"/>
    <p:restoredTop sz="84418"/>
  </p:normalViewPr>
  <p:slideViewPr>
    <p:cSldViewPr snapToGrid="0">
      <p:cViewPr varScale="1">
        <p:scale>
          <a:sx n="70" d="100"/>
          <a:sy n="70" d="100"/>
        </p:scale>
        <p:origin x="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C88DA-FB53-41F9-BB0B-C57AE412C7C8}" type="datetimeFigureOut"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86C16-A2CA-4F40-B496-43C8D3C6C63C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67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 err="1"/>
              <a:t>We</a:t>
            </a:r>
            <a:r>
              <a:rPr lang="ko-KR" altLang="ko-KR" dirty="0"/>
              <a:t> </a:t>
            </a:r>
            <a:r>
              <a:rPr lang="ko-KR" altLang="ko-KR" dirty="0" err="1"/>
              <a:t>present</a:t>
            </a:r>
            <a:r>
              <a:rPr lang="ko-KR" altLang="ko-KR" dirty="0"/>
              <a:t> </a:t>
            </a:r>
            <a:r>
              <a:rPr lang="ko-KR" altLang="ko-KR" b="1" dirty="0" err="1"/>
              <a:t>Controller-Aware</a:t>
            </a:r>
            <a:r>
              <a:rPr lang="ko-KR" altLang="ko-KR" b="1" dirty="0"/>
              <a:t> RRT*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Command-Conditioned</a:t>
            </a:r>
            <a:r>
              <a:rPr lang="ko-KR" altLang="ko-KR" dirty="0"/>
              <a:t> </a:t>
            </a:r>
            <a:r>
              <a:rPr lang="ko-KR" altLang="ko-KR" dirty="0" err="1"/>
              <a:t>Collision</a:t>
            </a:r>
            <a:r>
              <a:rPr lang="ko-KR" altLang="ko-KR" dirty="0"/>
              <a:t> </a:t>
            </a:r>
            <a:r>
              <a:rPr lang="ko-KR" altLang="ko-KR" dirty="0" err="1"/>
              <a:t>Envelopes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The </a:t>
            </a:r>
            <a:r>
              <a:rPr lang="ko-KR" altLang="ko-KR" dirty="0" err="1"/>
              <a:t>goal</a:t>
            </a:r>
            <a:r>
              <a:rPr lang="ko-KR" altLang="ko-KR" dirty="0"/>
              <a:t> of </a:t>
            </a:r>
            <a:r>
              <a:rPr lang="ko-KR" altLang="ko-KR" dirty="0" err="1"/>
              <a:t>this</a:t>
            </a:r>
            <a:r>
              <a:rPr lang="ko-KR" altLang="ko-KR" dirty="0"/>
              <a:t> </a:t>
            </a:r>
            <a:r>
              <a:rPr lang="ko-KR" altLang="ko-KR" dirty="0" err="1"/>
              <a:t>work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improve</a:t>
            </a:r>
            <a:r>
              <a:rPr lang="ko-KR" altLang="ko-KR" dirty="0"/>
              <a:t> </a:t>
            </a:r>
            <a:r>
              <a:rPr lang="ko-KR" altLang="ko-KR" dirty="0" err="1"/>
              <a:t>humanoid</a:t>
            </a:r>
            <a:r>
              <a:rPr lang="ko-KR" altLang="ko-KR" dirty="0"/>
              <a:t> </a:t>
            </a:r>
            <a:r>
              <a:rPr lang="ko-KR" altLang="ko-KR" dirty="0" err="1"/>
              <a:t>path</a:t>
            </a:r>
            <a:r>
              <a:rPr lang="ko-KR" altLang="ko-KR" dirty="0"/>
              <a:t> </a:t>
            </a:r>
            <a:r>
              <a:rPr lang="ko-KR" altLang="ko-KR" dirty="0" err="1"/>
              <a:t>planning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constrained</a:t>
            </a:r>
            <a:r>
              <a:rPr lang="ko-KR" altLang="ko-KR" dirty="0"/>
              <a:t> </a:t>
            </a:r>
            <a:r>
              <a:rPr lang="ko-KR" altLang="ko-KR" dirty="0" err="1"/>
              <a:t>environments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incorporating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behavior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low-level</a:t>
            </a:r>
            <a:r>
              <a:rPr lang="ko-KR" altLang="ko-KR" dirty="0"/>
              <a:t> </a:t>
            </a:r>
            <a:r>
              <a:rPr lang="ko-KR" altLang="ko-KR" dirty="0" err="1"/>
              <a:t>locomotion</a:t>
            </a:r>
            <a:r>
              <a:rPr lang="ko-KR" altLang="ko-KR" dirty="0"/>
              <a:t> </a:t>
            </a:r>
            <a:r>
              <a:rPr lang="ko-KR" altLang="ko-KR" dirty="0" err="1"/>
              <a:t>controller</a:t>
            </a:r>
            <a:r>
              <a:rPr lang="ko-KR" altLang="ko-KR" dirty="0"/>
              <a:t> </a:t>
            </a:r>
            <a:r>
              <a:rPr lang="ko-KR" altLang="ko-KR" dirty="0" err="1"/>
              <a:t>into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high-level</a:t>
            </a:r>
            <a:r>
              <a:rPr lang="ko-KR" altLang="ko-KR" dirty="0"/>
              <a:t> </a:t>
            </a:r>
            <a:r>
              <a:rPr lang="ko-KR" altLang="ko-KR" dirty="0" err="1"/>
              <a:t>planner</a:t>
            </a:r>
            <a:r>
              <a:rPr lang="ko-KR" altLang="ko-KR" dirty="0"/>
              <a:t>.</a:t>
            </a:r>
          </a:p>
          <a:p>
            <a:endParaRPr lang="en-US" altLang="ko-KR" b="0" dirty="0"/>
          </a:p>
          <a:p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57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1F670-F60F-0489-DBF4-8554872E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EB1506-CA9E-1E9F-F245-B4398A0C2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888743-D17B-A77A-E33C-E523A7D53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7B2D17-E655-74F1-81ED-BCE13F2B1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64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3389-C232-002C-BC78-A99C1A98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6E2A58-7E18-400D-C8F4-0BBE44F8C5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C0534-CA1B-7BB1-7B4B-29806F305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8CBEAB-BB88-AC9F-FA88-A590150A3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990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4CB4E-2BF7-ACF1-4FDC-F9BF8E015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B6858D-FAEC-AFCF-9E2C-36F47C48F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E148B4-71CD-C373-3DB2-E3C63FCE7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D1D4B1-C309-B12E-CB93-6CDC353EF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150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EFDE9-9B36-B61D-0AEA-849A7324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1E8A37-5C51-9754-0E0C-6EFD0E231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5C876F-5A89-5917-CC28-99F4CAE7F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97658-4571-FFAC-0124-0C73C1C4C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912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A7B6-C611-6121-BB46-A0459B28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C8578-4E88-C2CB-2F47-106363023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312C3E-0330-7869-DEA4-9332A8E65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C873E-B24C-B2C6-99DF-F52C0A149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493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7DEC-E7F9-E763-F92D-0FA74F0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765634-D077-D792-0C15-7AD350004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63FB08-9D21-CAF0-F7B3-EDFEDF571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D1B44-DC6C-2B94-F9EE-76D16F3F9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7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B2D7-BC7D-F586-FE0C-149872BE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F5E5FB-FEAE-224E-7399-B3A8112DF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41406-32C2-1157-3B14-5FE980A56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88E5A-7A3F-1660-A5C8-E11D30C8F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513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2F022-6F4F-60D0-A89B-F6999BB1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4A805-BC65-4B34-4483-CFE0B3222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DA26F7-F831-3652-A1F2-627E82F5B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3EAE3-7395-7A16-8DA7-0CBEEFD63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1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472B-ACEA-F3F4-8B39-6CDDCD50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25656-ADCA-6B08-4754-CA54B0C95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D3F29E-FD43-FA64-0A7B-EF01661C9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EF33C-507B-EC5E-37E3-38E4BF0E4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412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7015-AFEE-D081-1E7F-E48425F7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974A7-91F0-483D-9BE6-4370167D1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EAD803-163B-E7B2-A9B0-4DE59A8F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3190FB-CFF9-D1A7-CAE3-6D0E725F2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37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17BC-EAE7-98E8-4B90-CD959CA0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F116D-AF98-B6BC-8968-0EAB923E3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EA1609-DE06-88E5-0CDC-B4450D13A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984E3-5CC8-17DB-1324-E269E4D80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7BBC1-6B4F-44A6-AD45-A3499CDEBE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273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jpeg"/><Relationship Id="rId2" Type="http://schemas.openxmlformats.org/officeDocument/2006/relationships/video" Target="https://www.youtube.com/embed/Op8SctPpmQQ?feature=oembed" TargetMode="External"/><Relationship Id="rId1" Type="http://schemas.openxmlformats.org/officeDocument/2006/relationships/video" Target="https://www.youtube.com/embed/LgpKUTL36YQ?feature=oembed" TargetMode="External"/><Relationship Id="rId6" Type="http://schemas.openxmlformats.org/officeDocument/2006/relationships/image" Target="../media/image8.jpe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F4BB55C-7594-47F4-9EB9-FAD9FB570632}"/>
              </a:ext>
            </a:extLst>
          </p:cNvPr>
          <p:cNvSpPr txBox="1"/>
          <p:nvPr/>
        </p:nvSpPr>
        <p:spPr>
          <a:xfrm>
            <a:off x="559732" y="3105834"/>
            <a:ext cx="1107346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 dirty="0">
                <a:latin typeface="Arial"/>
                <a:ea typeface="+mn-lt"/>
                <a:cs typeface="Arial"/>
              </a:rPr>
              <a:t>Introduce</a:t>
            </a:r>
            <a:endParaRPr lang="ko-KR" altLang="en-US" sz="3600" dirty="0">
              <a:ea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73E2F9-D82C-4A0B-8A6E-A200E861CA87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63EAEF-BF73-44FB-BA56-33EB1E6C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4BE10BF-16EE-4C60-8962-2B38E4447DA5}"/>
              </a:ext>
            </a:extLst>
          </p:cNvPr>
          <p:cNvGrpSpPr/>
          <p:nvPr/>
        </p:nvGrpSpPr>
        <p:grpSpPr>
          <a:xfrm>
            <a:off x="8268818" y="6046989"/>
            <a:ext cx="3780413" cy="694883"/>
            <a:chOff x="8268818" y="6046989"/>
            <a:chExt cx="3780413" cy="6948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B8CF6F9-756C-4673-B09F-DB90CE9F21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47607" b="2059"/>
            <a:stretch/>
          </p:blipFill>
          <p:spPr>
            <a:xfrm>
              <a:off x="10440537" y="6046989"/>
              <a:ext cx="1608694" cy="69488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9028EDB-A449-4D51-BAC0-25D71A776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68818" y="6166550"/>
              <a:ext cx="2096728" cy="575322"/>
            </a:xfrm>
            <a:prstGeom prst="rect">
              <a:avLst/>
            </a:prstGeom>
          </p:spPr>
        </p:pic>
      </p:grpSp>
      <p:pic>
        <p:nvPicPr>
          <p:cNvPr id="42" name="오디오 41">
            <a:extLst>
              <a:ext uri="{FF2B5EF4-FFF2-40B4-BE49-F238E27FC236}">
                <a16:creationId xmlns:a16="http://schemas.microsoft.com/office/drawing/2014/main" id="{8C801E80-4AFB-655C-7BC8-F16F307FAA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7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58"/>
    </mc:Choice>
    <mc:Fallback xmlns="">
      <p:transition spd="slow" advTm="167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1FFC-8990-0141-0731-976DEFBC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700DA8-4BDB-F250-502A-2A380F355629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EE2CC-0BCE-72A1-404C-AE4052A3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26554-40CE-100D-CD2E-2DA422B72618}"/>
              </a:ext>
            </a:extLst>
          </p:cNvPr>
          <p:cNvSpPr txBox="1"/>
          <p:nvPr/>
        </p:nvSpPr>
        <p:spPr>
          <a:xfrm>
            <a:off x="276946" y="1426649"/>
            <a:ext cx="11838862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2400" b="1" dirty="0">
                <a:latin typeface="Arial"/>
                <a:ea typeface="맑은 고딕"/>
                <a:cs typeface="Arial"/>
              </a:rPr>
              <a:t>오승빈 </a:t>
            </a:r>
            <a:r>
              <a:rPr lang="en-US" altLang="ko-KR" sz="2400" b="1" dirty="0">
                <a:latin typeface="Arial"/>
                <a:ea typeface="맑은 고딕"/>
                <a:cs typeface="Arial"/>
              </a:rPr>
              <a:t>(2000.11.25)</a:t>
            </a:r>
          </a:p>
          <a:p>
            <a:pPr marL="342900" indent="-342900">
              <a:buFont typeface="Arial"/>
              <a:buChar char="•"/>
            </a:pPr>
            <a:endParaRPr lang="en-US" altLang="ko-KR" sz="2000" b="1" dirty="0">
              <a:latin typeface="Arial"/>
              <a:ea typeface="맑은 고딕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ko-KR" altLang="en-US" sz="2000" dirty="0">
                <a:latin typeface="Arial"/>
                <a:ea typeface="맑은 고딕"/>
                <a:cs typeface="Arial"/>
              </a:rPr>
              <a:t>중앙대학교 기계공학부 졸업</a:t>
            </a:r>
            <a:r>
              <a:rPr lang="en-US" altLang="ko-KR" sz="2000" dirty="0">
                <a:latin typeface="Arial"/>
                <a:ea typeface="맑은 고딕"/>
                <a:cs typeface="Arial"/>
              </a:rPr>
              <a:t>(2019~2025)</a:t>
            </a:r>
          </a:p>
          <a:p>
            <a:pPr marL="342900" indent="-342900">
              <a:buFont typeface="Arial"/>
              <a:buChar char="•"/>
            </a:pPr>
            <a:r>
              <a:rPr lang="ko-KR" altLang="en-US" sz="2000" dirty="0">
                <a:latin typeface="Arial"/>
                <a:ea typeface="맑은 고딕"/>
                <a:cs typeface="Arial"/>
              </a:rPr>
              <a:t>공군 전역</a:t>
            </a:r>
            <a:r>
              <a:rPr lang="en-US" altLang="ko-KR" sz="2000" dirty="0">
                <a:latin typeface="Arial"/>
                <a:ea typeface="맑은 고딕"/>
                <a:cs typeface="Arial"/>
              </a:rPr>
              <a:t>(2021~2022)</a:t>
            </a:r>
          </a:p>
          <a:p>
            <a:pPr marL="342900" indent="-342900">
              <a:buFont typeface="Arial"/>
              <a:buChar char="•"/>
            </a:pPr>
            <a:r>
              <a:rPr lang="en-US" altLang="ko-KR" sz="2000" dirty="0">
                <a:latin typeface="Arial"/>
                <a:ea typeface="맑은 고딕"/>
                <a:cs typeface="Arial"/>
              </a:rPr>
              <a:t>KAIST </a:t>
            </a:r>
            <a:r>
              <a:rPr lang="ko-KR" altLang="en-US" sz="2000" dirty="0">
                <a:latin typeface="Arial"/>
                <a:ea typeface="맑은 고딕"/>
                <a:cs typeface="Arial"/>
              </a:rPr>
              <a:t>기계공학과 석사과정 </a:t>
            </a:r>
            <a:r>
              <a:rPr lang="en-US" altLang="ko-KR" sz="2000" dirty="0">
                <a:latin typeface="Arial"/>
                <a:ea typeface="맑은 고딕"/>
                <a:cs typeface="Arial"/>
              </a:rPr>
              <a:t>DRCD Lab (2025~)</a:t>
            </a:r>
          </a:p>
          <a:p>
            <a:pPr marL="342900" indent="-342900">
              <a:buFont typeface="Arial"/>
              <a:buChar char="•"/>
            </a:pPr>
            <a:endParaRPr lang="en-US" altLang="ko-KR" sz="2000" dirty="0">
              <a:latin typeface="Arial"/>
              <a:ea typeface="맑은 고딕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altLang="ko-KR" sz="2000" dirty="0">
                <a:latin typeface="Arial"/>
                <a:ea typeface="맑은 고딕"/>
                <a:cs typeface="Arial"/>
              </a:rPr>
              <a:t>Research Interests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ko-KR" sz="2000" dirty="0">
                <a:latin typeface="Arial"/>
                <a:ea typeface="맑은 고딕"/>
                <a:cs typeface="Arial"/>
              </a:rPr>
              <a:t>Legged Robot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ko-KR" sz="2000" dirty="0">
                <a:latin typeface="Arial"/>
                <a:ea typeface="맑은 고딕"/>
                <a:cs typeface="Arial"/>
              </a:rPr>
              <a:t>Dexterous Manipulation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ko-KR" sz="2000" dirty="0">
                <a:latin typeface="Arial"/>
                <a:ea typeface="맑은 고딕"/>
                <a:cs typeface="Arial"/>
              </a:rPr>
              <a:t>Trajectory Optimization</a:t>
            </a:r>
          </a:p>
          <a:p>
            <a:pPr marL="800100" lvl="1" indent="-342900">
              <a:buFont typeface="Arial"/>
              <a:buChar char="•"/>
            </a:pPr>
            <a:r>
              <a:rPr lang="en-US" altLang="ko-KR" sz="2000" dirty="0">
                <a:latin typeface="Arial"/>
                <a:ea typeface="맑은 고딕"/>
                <a:cs typeface="Arial"/>
              </a:rPr>
              <a:t>Reinforcement Learning</a:t>
            </a:r>
          </a:p>
          <a:p>
            <a:pPr marL="342900" indent="-342900">
              <a:buFont typeface="Arial"/>
              <a:buChar char="•"/>
            </a:pPr>
            <a:endParaRPr lang="en-US" altLang="ko-KR" sz="2000" dirty="0">
              <a:latin typeface="Arial"/>
              <a:ea typeface="맑은 고딕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ko-KR" altLang="en-US" sz="2000" dirty="0">
                <a:latin typeface="Arial"/>
                <a:ea typeface="맑은 고딕"/>
                <a:cs typeface="Arial"/>
              </a:rPr>
              <a:t>현재 </a:t>
            </a:r>
            <a:r>
              <a:rPr lang="en-US" altLang="ko-KR" sz="2000" dirty="0">
                <a:latin typeface="Arial"/>
                <a:ea typeface="맑은 고딕"/>
                <a:cs typeface="Arial"/>
              </a:rPr>
              <a:t>Robotics Control</a:t>
            </a:r>
            <a:r>
              <a:rPr lang="ko-KR" altLang="en-US" sz="2000" dirty="0">
                <a:latin typeface="Arial"/>
                <a:ea typeface="맑은 고딕"/>
                <a:cs typeface="Arial"/>
              </a:rPr>
              <a:t>을 연구하고 있음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B1858-8688-0472-6B21-85C4E9387385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About Me.</a:t>
            </a: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5B6DBF-CCC0-D627-415D-1571F510A2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7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4"/>
    </mc:Choice>
    <mc:Fallback xmlns="">
      <p:transition spd="slow" advTm="2573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588D-F2E1-0FA6-DE3D-B3686DDB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3CED5F-14EF-276D-65FF-ACBA3442BFFC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C85E2-3F9E-2A17-AFE1-B2E0A97E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6584C-FC75-52C9-F217-E2D267AAAE1B}"/>
              </a:ext>
            </a:extLst>
          </p:cNvPr>
          <p:cNvSpPr txBox="1"/>
          <p:nvPr/>
        </p:nvSpPr>
        <p:spPr>
          <a:xfrm>
            <a:off x="192946" y="1351380"/>
            <a:ext cx="11838862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000" b="1" dirty="0">
                <a:latin typeface="Arial"/>
                <a:ea typeface="맑은 고딕"/>
                <a:cs typeface="Arial"/>
              </a:rPr>
              <a:t>RL controller tuning</a:t>
            </a:r>
            <a:r>
              <a:rPr lang="ko-KR" altLang="en-US" sz="2000" dirty="0">
                <a:latin typeface="Arial"/>
                <a:ea typeface="맑은 고딕"/>
                <a:cs typeface="Arial"/>
              </a:rPr>
              <a:t>과 </a:t>
            </a:r>
            <a:r>
              <a:rPr lang="en-US" altLang="ko-KR" sz="2000" b="1" dirty="0">
                <a:latin typeface="Arial"/>
                <a:ea typeface="맑은 고딕"/>
                <a:cs typeface="Arial"/>
              </a:rPr>
              <a:t>middleware </a:t>
            </a:r>
            <a:r>
              <a:rPr lang="ko-KR" altLang="en-US" sz="2000" dirty="0">
                <a:latin typeface="Arial"/>
                <a:ea typeface="맑은 고딕"/>
                <a:cs typeface="Arial"/>
              </a:rPr>
              <a:t>수정을 맡아서 함</a:t>
            </a:r>
            <a:endParaRPr lang="en-US" altLang="ko-KR" sz="2000" dirty="0">
              <a:latin typeface="Arial"/>
              <a:ea typeface="맑은 고딕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580841-2323-D85F-AAF6-D38A1E978BDD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Project: High-Speed Legged Locomotion (with </a:t>
            </a:r>
            <a:r>
              <a:rPr lang="ko-KR" altLang="en-US" sz="2800" b="1" dirty="0">
                <a:latin typeface="Arial"/>
                <a:ea typeface="맑은 고딕"/>
                <a:cs typeface="Arial"/>
              </a:rPr>
              <a:t>태규</a:t>
            </a:r>
            <a:r>
              <a:rPr lang="en-US" altLang="ko-KR" sz="2800" b="1" dirty="0">
                <a:latin typeface="Arial"/>
                <a:ea typeface="맑은 고딕"/>
                <a:cs typeface="Arial"/>
              </a:rPr>
              <a:t>)</a:t>
            </a: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C5ACAB-A959-8AF9-DF3B-7EC8A17B46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069A65-DBB7-65B0-561B-F97CA5BF1951}"/>
              </a:ext>
            </a:extLst>
          </p:cNvPr>
          <p:cNvSpPr txBox="1"/>
          <p:nvPr/>
        </p:nvSpPr>
        <p:spPr>
          <a:xfrm>
            <a:off x="192946" y="2057059"/>
            <a:ext cx="11634317" cy="377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RL-based controller</a:t>
            </a:r>
            <a:r>
              <a:rPr lang="ko-KR" altLang="en-US" b="1" dirty="0"/>
              <a:t>로 한계까지 밀어붙이며 </a:t>
            </a:r>
            <a:r>
              <a:rPr lang="ko-KR" altLang="en-US" b="1" dirty="0" err="1"/>
              <a:t>느낀점</a:t>
            </a:r>
            <a:endParaRPr lang="en-US" altLang="ko-KR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/>
              <a:t> </a:t>
            </a:r>
            <a:r>
              <a:rPr lang="en-US" altLang="ko-KR" dirty="0"/>
              <a:t>RL</a:t>
            </a:r>
            <a:r>
              <a:rPr lang="ko-KR" altLang="en-US" dirty="0"/>
              <a:t>을 통해 잘 학습된 제어기는 굉장히 강건함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But,</a:t>
            </a:r>
            <a:r>
              <a:rPr lang="ko-KR" altLang="en-US" dirty="0"/>
              <a:t> 이 강건함이 </a:t>
            </a:r>
            <a:r>
              <a:rPr lang="en-US" altLang="ko-KR" dirty="0"/>
              <a:t>real</a:t>
            </a:r>
            <a:r>
              <a:rPr lang="ko-KR" altLang="en-US" dirty="0"/>
              <a:t>에도 항상 전이된다는 보장이 없음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dirty="0"/>
              <a:t>그래서 </a:t>
            </a:r>
            <a:r>
              <a:rPr lang="en-US" altLang="ko-KR" dirty="0"/>
              <a:t>s</a:t>
            </a:r>
            <a:r>
              <a:rPr lang="ko-KR" altLang="ko-KR" dirty="0" err="1"/>
              <a:t>imulatio</a:t>
            </a:r>
            <a:r>
              <a:rPr lang="en-US" altLang="ko-KR" dirty="0"/>
              <a:t>n</a:t>
            </a:r>
            <a:r>
              <a:rPr lang="ko-KR" altLang="ko-KR" dirty="0"/>
              <a:t>과 </a:t>
            </a:r>
            <a:r>
              <a:rPr lang="ko-KR" altLang="ko-KR" dirty="0" err="1"/>
              <a:t>real</a:t>
            </a:r>
            <a:r>
              <a:rPr lang="ko-KR" altLang="ko-KR" dirty="0"/>
              <a:t> </a:t>
            </a:r>
            <a:r>
              <a:rPr lang="ko-KR" altLang="ko-KR" dirty="0" err="1"/>
              <a:t>robot</a:t>
            </a:r>
            <a:r>
              <a:rPr lang="ko-KR" altLang="ko-KR" dirty="0"/>
              <a:t> 사이의 </a:t>
            </a:r>
            <a:r>
              <a:rPr lang="ko-KR" altLang="ko-KR" dirty="0" err="1"/>
              <a:t>gap을</a:t>
            </a:r>
            <a:r>
              <a:rPr lang="ko-KR" altLang="ko-KR" dirty="0"/>
              <a:t> 줄이는 </a:t>
            </a:r>
            <a:r>
              <a:rPr lang="en-US" altLang="ko-KR" dirty="0"/>
              <a:t>Sim-to-real</a:t>
            </a:r>
            <a:r>
              <a:rPr lang="ko-KR" altLang="en-US" dirty="0"/>
              <a:t>이 중요</a:t>
            </a:r>
            <a:endParaRPr lang="ko-KR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다소 현실적인 문제</a:t>
            </a:r>
            <a:endParaRPr lang="en-US" altLang="ko-KR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 우연히 얻어지는 강건함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 특정 </a:t>
            </a:r>
            <a:r>
              <a:rPr lang="en-US" altLang="ko-KR" dirty="0"/>
              <a:t>Sim-to-real gap</a:t>
            </a:r>
            <a:r>
              <a:rPr lang="ko-KR" altLang="en-US" dirty="0"/>
              <a:t>에 둔감한 제어기가 나오기도 민감한 제어기가 나오기도 함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reward engineering</a:t>
            </a:r>
            <a:r>
              <a:rPr lang="ko-KR" altLang="en-US" dirty="0"/>
              <a:t>이 직관적이지 않은 경우가 많음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87909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4"/>
    </mc:Choice>
    <mc:Fallback xmlns="">
      <p:transition spd="slow" advTm="2573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05F6-9E78-61A6-B7E5-DA8E768F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F445D8-AC5B-0952-B28E-BAD6024E0465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65E1D-687C-0516-8AE7-119F2FF2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D35C6-5FFD-4976-B96D-CE81ABDC336D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82BE33-7E2A-9247-E6B1-EFF381B9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0F975E-5A78-B416-13DA-7832611B3D43}"/>
              </a:ext>
            </a:extLst>
          </p:cNvPr>
          <p:cNvSpPr txBox="1"/>
          <p:nvPr/>
        </p:nvSpPr>
        <p:spPr>
          <a:xfrm>
            <a:off x="276946" y="1528329"/>
            <a:ext cx="10470934" cy="4609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/>
              <a:t>현재 하고 있는 연구는 </a:t>
            </a:r>
            <a:r>
              <a:rPr lang="en-US" altLang="ko-KR" b="1" dirty="0"/>
              <a:t>C</a:t>
            </a:r>
            <a:r>
              <a:rPr lang="ko-KR" altLang="ko-KR" b="1" dirty="0" err="1"/>
              <a:t>ontact</a:t>
            </a:r>
            <a:r>
              <a:rPr lang="ko-KR" altLang="ko-KR" b="1" dirty="0"/>
              <a:t>-</a:t>
            </a:r>
            <a:r>
              <a:rPr lang="en-US" altLang="ko-KR" b="1" dirty="0"/>
              <a:t>I</a:t>
            </a:r>
            <a:r>
              <a:rPr lang="ko-KR" altLang="ko-KR" b="1" dirty="0" err="1"/>
              <a:t>mplicit</a:t>
            </a:r>
            <a:r>
              <a:rPr lang="ko-KR" altLang="ko-KR" b="1" dirty="0"/>
              <a:t> </a:t>
            </a:r>
            <a:r>
              <a:rPr lang="en-US" altLang="ko-KR" b="1" dirty="0"/>
              <a:t>T</a:t>
            </a:r>
            <a:r>
              <a:rPr lang="ko-KR" altLang="ko-KR" b="1" dirty="0" err="1"/>
              <a:t>rajectory</a:t>
            </a:r>
            <a:r>
              <a:rPr lang="ko-KR" altLang="ko-KR" b="1" dirty="0"/>
              <a:t> </a:t>
            </a:r>
            <a:r>
              <a:rPr lang="en-US" altLang="ko-KR" b="1" dirty="0"/>
              <a:t>O</a:t>
            </a:r>
            <a:r>
              <a:rPr lang="ko-KR" altLang="ko-KR" b="1" dirty="0" err="1"/>
              <a:t>ptimization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 </a:t>
            </a:r>
            <a:r>
              <a:rPr lang="ko-KR" altLang="ko-KR" dirty="0" err="1"/>
              <a:t>Robot이</a:t>
            </a:r>
            <a:r>
              <a:rPr lang="ko-KR" altLang="ko-KR" dirty="0"/>
              <a:t> 환경이나 </a:t>
            </a:r>
            <a:r>
              <a:rPr lang="ko-KR" altLang="ko-KR" dirty="0" err="1"/>
              <a:t>object와</a:t>
            </a:r>
            <a:r>
              <a:rPr lang="ko-KR" altLang="ko-KR" dirty="0"/>
              <a:t> 접촉하면서 움직이는 상황을 다룸</a:t>
            </a:r>
          </a:p>
          <a:p>
            <a:r>
              <a:rPr lang="en-US" altLang="ko-KR" dirty="0"/>
              <a:t>  - </a:t>
            </a:r>
            <a:r>
              <a:rPr lang="ko-KR" altLang="ko-KR" dirty="0" err="1"/>
              <a:t>Legged</a:t>
            </a:r>
            <a:r>
              <a:rPr lang="ko-KR" altLang="ko-KR" dirty="0"/>
              <a:t> </a:t>
            </a:r>
            <a:r>
              <a:rPr lang="ko-KR" altLang="ko-KR" dirty="0" err="1"/>
              <a:t>robot</a:t>
            </a:r>
            <a:r>
              <a:rPr lang="ko-KR" altLang="ko-KR" dirty="0"/>
              <a:t> </a:t>
            </a:r>
            <a:r>
              <a:rPr lang="ko-KR" altLang="ko-KR" dirty="0" err="1"/>
              <a:t>locomotion</a:t>
            </a:r>
            <a:r>
              <a:rPr lang="ko-KR" altLang="ko-KR" dirty="0"/>
              <a:t> </a:t>
            </a:r>
          </a:p>
          <a:p>
            <a:r>
              <a:rPr lang="en-US" altLang="ko-KR" dirty="0"/>
              <a:t>  - </a:t>
            </a:r>
            <a:r>
              <a:rPr lang="ko-KR" altLang="ko-KR" dirty="0" err="1"/>
              <a:t>Dexterous</a:t>
            </a:r>
            <a:r>
              <a:rPr lang="ko-KR" altLang="ko-KR" dirty="0"/>
              <a:t> </a:t>
            </a:r>
            <a:r>
              <a:rPr lang="ko-KR" altLang="ko-KR" dirty="0" err="1"/>
              <a:t>manipulation</a:t>
            </a:r>
            <a:r>
              <a:rPr lang="ko-KR" altLang="ko-KR" dirty="0"/>
              <a:t> </a:t>
            </a:r>
          </a:p>
          <a:p>
            <a:r>
              <a:rPr lang="en-US" altLang="ko-KR" dirty="0"/>
              <a:t>  - </a:t>
            </a:r>
            <a:r>
              <a:rPr lang="ko-KR" altLang="ko-KR" dirty="0" err="1"/>
              <a:t>Object</a:t>
            </a:r>
            <a:r>
              <a:rPr lang="ko-KR" altLang="ko-KR" dirty="0"/>
              <a:t> </a:t>
            </a:r>
            <a:r>
              <a:rPr lang="ko-KR" altLang="ko-KR" dirty="0" err="1"/>
              <a:t>interaction</a:t>
            </a:r>
            <a:endParaRPr lang="ko-KR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최신 </a:t>
            </a:r>
            <a:r>
              <a:rPr lang="ko-KR" altLang="en-US" dirty="0"/>
              <a:t>제어 </a:t>
            </a:r>
            <a:r>
              <a:rPr lang="ko-KR" altLang="ko-KR" dirty="0"/>
              <a:t>연구 주제 중 하나이지만, 비교적 </a:t>
            </a:r>
            <a:r>
              <a:rPr lang="en-US" altLang="ko-KR" dirty="0"/>
              <a:t>minor</a:t>
            </a:r>
            <a:r>
              <a:rPr lang="ko-KR" altLang="ko-KR" dirty="0"/>
              <a:t>한 분야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ko-KR" altLang="ko-KR" dirty="0"/>
              <a:t>➡ 연구 </a:t>
            </a:r>
            <a:r>
              <a:rPr lang="ko-KR" altLang="ko-KR" dirty="0" err="1"/>
              <a:t>community가</a:t>
            </a:r>
            <a:r>
              <a:rPr lang="ko-KR" altLang="ko-KR" dirty="0"/>
              <a:t> 크지는 않음 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Contact-rich</a:t>
            </a:r>
            <a:r>
              <a:rPr lang="ko-KR" altLang="ko-KR" dirty="0"/>
              <a:t> </a:t>
            </a:r>
            <a:r>
              <a:rPr lang="ko-KR" altLang="ko-KR" dirty="0" err="1"/>
              <a:t>problem을</a:t>
            </a:r>
            <a:r>
              <a:rPr lang="ko-KR" altLang="ko-KR" dirty="0"/>
              <a:t> </a:t>
            </a:r>
            <a:r>
              <a:rPr lang="ko-KR" altLang="ko-KR" dirty="0" err="1"/>
              <a:t>optimization</a:t>
            </a:r>
            <a:r>
              <a:rPr lang="ko-KR" altLang="ko-KR" dirty="0"/>
              <a:t> 관점에서 다루는 연</a:t>
            </a:r>
            <a:r>
              <a:rPr lang="ko-KR" altLang="en-US" dirty="0"/>
              <a:t>구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83624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4"/>
    </mc:Choice>
    <mc:Fallback xmlns="">
      <p:transition spd="slow" advTm="2573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6E43-F921-5444-9358-CF1A2739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A7B4A9-0532-8AA1-34F7-2024422470FA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B1AD25-091B-B0B0-7CE9-598A48F7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2109A2-1848-6743-291C-A542B08C05E8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274E18-E4B3-7F2B-D256-EE5D9BDAF6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D01F6C-F921-8842-36EB-C0426EACFFA5}"/>
              </a:ext>
            </a:extLst>
          </p:cNvPr>
          <p:cNvSpPr txBox="1"/>
          <p:nvPr/>
        </p:nvSpPr>
        <p:spPr>
          <a:xfrm>
            <a:off x="276946" y="1045100"/>
            <a:ext cx="10470934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 err="1"/>
              <a:t>Motivation</a:t>
            </a:r>
            <a:r>
              <a:rPr lang="ko-KR" altLang="ko-KR" sz="2000" b="1" dirty="0"/>
              <a:t> </a:t>
            </a:r>
            <a:r>
              <a:rPr lang="ko-KR" altLang="en-US" sz="2000" b="1" dirty="0"/>
              <a:t>－ </a:t>
            </a:r>
            <a:r>
              <a:rPr lang="ko-KR" altLang="ko-KR" sz="2000" b="1" dirty="0" err="1"/>
              <a:t>Contact이</a:t>
            </a:r>
            <a:r>
              <a:rPr lang="ko-KR" altLang="ko-KR" sz="2000" b="1" dirty="0"/>
              <a:t> 어려운 이유</a:t>
            </a:r>
            <a:endParaRPr lang="en-US" altLang="ko-KR" sz="2000" b="1" dirty="0"/>
          </a:p>
          <a:p>
            <a:endParaRPr lang="en-US" altLang="ko-KR" b="1" dirty="0"/>
          </a:p>
          <a:p>
            <a:pPr>
              <a:buNone/>
            </a:pPr>
            <a:r>
              <a:rPr lang="ko-KR" altLang="ko-KR" b="1" dirty="0" err="1"/>
              <a:t>Contact은</a:t>
            </a:r>
            <a:r>
              <a:rPr lang="ko-KR" altLang="ko-KR" b="1" dirty="0"/>
              <a:t> </a:t>
            </a:r>
            <a:r>
              <a:rPr lang="ko-KR" altLang="ko-KR" b="1" dirty="0" err="1"/>
              <a:t>robot</a:t>
            </a:r>
            <a:r>
              <a:rPr lang="ko-KR" altLang="ko-KR" b="1" dirty="0"/>
              <a:t> </a:t>
            </a:r>
            <a:r>
              <a:rPr lang="ko-KR" altLang="ko-KR" b="1" dirty="0" err="1"/>
              <a:t>control을</a:t>
            </a:r>
            <a:r>
              <a:rPr lang="ko-KR" altLang="ko-KR" b="1" dirty="0"/>
              <a:t> 어렵게 만드는 주요 원인</a:t>
            </a:r>
            <a:endParaRPr lang="ko-KR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Robot이</a:t>
            </a:r>
            <a:r>
              <a:rPr lang="ko-KR" altLang="ko-KR" dirty="0"/>
              <a:t> </a:t>
            </a:r>
            <a:r>
              <a:rPr lang="ko-KR" altLang="ko-KR" dirty="0" err="1"/>
              <a:t>contact을</a:t>
            </a:r>
            <a:r>
              <a:rPr lang="ko-KR" altLang="ko-KR" dirty="0"/>
              <a:t> 하느냐 안 </a:t>
            </a:r>
            <a:r>
              <a:rPr lang="ko-KR" altLang="ko-KR" dirty="0" err="1"/>
              <a:t>하느냐에</a:t>
            </a:r>
            <a:r>
              <a:rPr lang="ko-KR" altLang="ko-KR" dirty="0"/>
              <a:t> 따라 </a:t>
            </a:r>
            <a:r>
              <a:rPr lang="ko-KR" altLang="ko-KR" dirty="0" err="1"/>
              <a:t>dynamics가</a:t>
            </a:r>
            <a:r>
              <a:rPr lang="ko-KR" altLang="ko-KR" dirty="0"/>
              <a:t> 달라짐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ko-KR" b="1" dirty="0" err="1"/>
              <a:t>Contact</a:t>
            </a:r>
            <a:r>
              <a:rPr lang="ko-KR" altLang="ko-KR" b="1" dirty="0"/>
              <a:t> </a:t>
            </a:r>
            <a:r>
              <a:rPr lang="ko-KR" altLang="ko-KR" b="1" dirty="0" err="1"/>
              <a:t>state</a:t>
            </a:r>
            <a:r>
              <a:rPr lang="ko-KR" altLang="ko-KR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Environment</a:t>
            </a:r>
            <a:r>
              <a:rPr lang="ko-KR" altLang="ko-KR" dirty="0"/>
              <a:t> / </a:t>
            </a:r>
            <a:r>
              <a:rPr lang="ko-KR" altLang="ko-KR" dirty="0" err="1"/>
              <a:t>object에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전달 가능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Robot과</a:t>
            </a:r>
            <a:r>
              <a:rPr lang="ko-KR" altLang="ko-KR" dirty="0"/>
              <a:t> </a:t>
            </a:r>
            <a:r>
              <a:rPr lang="ko-KR" altLang="ko-KR" dirty="0" err="1"/>
              <a:t>environment</a:t>
            </a:r>
            <a:r>
              <a:rPr lang="ko-KR" altLang="ko-KR" dirty="0"/>
              <a:t>/</a:t>
            </a:r>
            <a:r>
              <a:rPr lang="ko-KR" altLang="ko-KR" dirty="0" err="1"/>
              <a:t>object가</a:t>
            </a:r>
            <a:r>
              <a:rPr lang="ko-KR" altLang="ko-KR" dirty="0"/>
              <a:t> 서로 영향을 줌 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b="1" dirty="0" err="1"/>
              <a:t>No-contact</a:t>
            </a:r>
            <a:r>
              <a:rPr lang="ko-KR" altLang="ko-KR" b="1" dirty="0"/>
              <a:t> </a:t>
            </a:r>
            <a:r>
              <a:rPr lang="ko-KR" altLang="ko-KR" b="1" dirty="0" err="1"/>
              <a:t>state</a:t>
            </a:r>
            <a:r>
              <a:rPr lang="ko-KR" altLang="ko-KR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Environment</a:t>
            </a:r>
            <a:r>
              <a:rPr lang="ko-KR" altLang="ko-KR" dirty="0"/>
              <a:t> / </a:t>
            </a:r>
            <a:r>
              <a:rPr lang="ko-KR" altLang="ko-KR" dirty="0" err="1"/>
              <a:t>object에</a:t>
            </a:r>
            <a:r>
              <a:rPr lang="ko-KR" altLang="ko-KR" dirty="0"/>
              <a:t> </a:t>
            </a:r>
            <a:r>
              <a:rPr lang="ko-KR" altLang="ko-KR" dirty="0" err="1"/>
              <a:t>force</a:t>
            </a:r>
            <a:r>
              <a:rPr lang="ko-KR" altLang="ko-KR" dirty="0"/>
              <a:t> 전달 불가능 </a:t>
            </a:r>
            <a:endParaRPr lang="en-US" altLang="ko-K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Robot과</a:t>
            </a:r>
            <a:r>
              <a:rPr lang="ko-KR" altLang="ko-KR" dirty="0"/>
              <a:t> </a:t>
            </a:r>
            <a:r>
              <a:rPr lang="ko-KR" altLang="ko-KR" dirty="0" err="1"/>
              <a:t>environment</a:t>
            </a:r>
            <a:r>
              <a:rPr lang="ko-KR" altLang="ko-KR" dirty="0"/>
              <a:t>/</a:t>
            </a:r>
            <a:r>
              <a:rPr lang="ko-KR" altLang="ko-KR" dirty="0" err="1"/>
              <a:t>object가</a:t>
            </a:r>
            <a:r>
              <a:rPr lang="ko-KR" altLang="ko-KR" dirty="0"/>
              <a:t> 독립적으로 움직임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ko-KR" dirty="0"/>
          </a:p>
          <a:p>
            <a:r>
              <a:rPr lang="ko-KR" altLang="ko-KR" dirty="0"/>
              <a:t>결과적으로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mode에</a:t>
            </a:r>
            <a:r>
              <a:rPr lang="ko-KR" altLang="ko-KR" dirty="0"/>
              <a:t> 따라 </a:t>
            </a:r>
            <a:r>
              <a:rPr lang="ko-KR" altLang="ko-KR" dirty="0" err="1"/>
              <a:t>system</a:t>
            </a:r>
            <a:r>
              <a:rPr lang="ko-KR" altLang="ko-KR" dirty="0"/>
              <a:t> </a:t>
            </a:r>
            <a:r>
              <a:rPr lang="ko-KR" altLang="ko-KR" dirty="0" err="1"/>
              <a:t>dynamics가</a:t>
            </a:r>
            <a:r>
              <a:rPr lang="ko-KR" altLang="ko-KR" dirty="0"/>
              <a:t> </a:t>
            </a:r>
            <a:r>
              <a:rPr lang="ko-KR" altLang="ko-KR" dirty="0" err="1"/>
              <a:t>switching됨</a:t>
            </a:r>
            <a:br>
              <a:rPr lang="ko-KR" altLang="ko-KR" dirty="0"/>
            </a:br>
            <a:r>
              <a:rPr lang="ko-KR" altLang="ko-KR" dirty="0"/>
              <a:t>➡ </a:t>
            </a:r>
            <a:r>
              <a:rPr lang="ko-KR" altLang="ko-KR" b="1" dirty="0" err="1"/>
              <a:t>Hybrid</a:t>
            </a:r>
            <a:r>
              <a:rPr lang="ko-KR" altLang="ko-KR" b="1" dirty="0"/>
              <a:t> </a:t>
            </a:r>
            <a:r>
              <a:rPr lang="ko-KR" altLang="ko-KR" b="1" dirty="0" err="1"/>
              <a:t>dynamics</a:t>
            </a:r>
            <a:endParaRPr lang="ko-KR" altLang="en-US" dirty="0"/>
          </a:p>
          <a:p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16608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4"/>
    </mc:Choice>
    <mc:Fallback xmlns="">
      <p:transition spd="slow" advTm="2573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9DFD8-DFD3-0D77-E3E5-2BB56DDE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405C4E-976C-7F58-79D0-CC2E574BA645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D1EF6-5720-5CB4-568D-4CF6E59C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6C9A2-9B48-6853-204A-082D0AE7E7D5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8A1C56-EFAF-F2AF-AF41-FBEE845C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530F06-076B-9CFC-C3CA-D4846CB69EAE}"/>
              </a:ext>
            </a:extLst>
          </p:cNvPr>
          <p:cNvSpPr txBox="1"/>
          <p:nvPr/>
        </p:nvSpPr>
        <p:spPr>
          <a:xfrm>
            <a:off x="331316" y="1044134"/>
            <a:ext cx="10470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기존 방식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35B7C-0BF0-FF5B-12AD-E98EB409D80B}"/>
              </a:ext>
            </a:extLst>
          </p:cNvPr>
          <p:cNvSpPr txBox="1"/>
          <p:nvPr/>
        </p:nvSpPr>
        <p:spPr>
          <a:xfrm>
            <a:off x="331316" y="1695030"/>
            <a:ext cx="7748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 err="1"/>
              <a:t>Contact</a:t>
            </a:r>
            <a:r>
              <a:rPr lang="ko-KR" altLang="ko-KR" b="1" dirty="0"/>
              <a:t> </a:t>
            </a:r>
            <a:r>
              <a:rPr lang="ko-KR" altLang="ko-KR" b="1" dirty="0" err="1"/>
              <a:t>sequence를</a:t>
            </a:r>
            <a:r>
              <a:rPr lang="ko-KR" altLang="ko-KR" b="1" dirty="0"/>
              <a:t> 사람이 미리 정하는 방식</a:t>
            </a:r>
            <a:endParaRPr lang="ko-KR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기존 </a:t>
            </a:r>
            <a:r>
              <a:rPr lang="ko-KR" altLang="ko-KR" dirty="0" err="1"/>
              <a:t>model-based</a:t>
            </a:r>
            <a:r>
              <a:rPr lang="ko-KR" altLang="ko-KR" dirty="0"/>
              <a:t> </a:t>
            </a:r>
            <a:r>
              <a:rPr lang="ko-KR" altLang="ko-KR" dirty="0" err="1"/>
              <a:t>locomotion</a:t>
            </a:r>
            <a:r>
              <a:rPr lang="ko-KR" altLang="ko-KR" dirty="0"/>
              <a:t> </a:t>
            </a:r>
            <a:r>
              <a:rPr lang="ko-KR" altLang="ko-KR" dirty="0" err="1"/>
              <a:t>controller에서는</a:t>
            </a:r>
            <a:r>
              <a:rPr lang="ko-KR" altLang="ko-KR" dirty="0"/>
              <a:t> 보통</a:t>
            </a:r>
            <a:r>
              <a:rPr lang="en-US" altLang="ko-KR" dirty="0"/>
              <a:t> </a:t>
            </a:r>
            <a:r>
              <a:rPr lang="ko-KR" altLang="ko-KR" dirty="0"/>
              <a:t>어느 발이 언제 땅에 닿고 언제 떨어지는지를 미리 정해둔 뒤 </a:t>
            </a:r>
            <a:r>
              <a:rPr lang="en-US" altLang="ko-KR" dirty="0"/>
              <a:t>control problem</a:t>
            </a:r>
            <a:r>
              <a:rPr lang="ko-KR" altLang="en-US" dirty="0"/>
              <a:t>을 품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444D3-EDD7-032F-4363-24AC21E5B40C}"/>
              </a:ext>
            </a:extLst>
          </p:cNvPr>
          <p:cNvSpPr txBox="1"/>
          <p:nvPr/>
        </p:nvSpPr>
        <p:spPr>
          <a:xfrm>
            <a:off x="341916" y="2814949"/>
            <a:ext cx="7940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 err="1"/>
              <a:t>Legged</a:t>
            </a:r>
            <a:r>
              <a:rPr lang="ko-KR" altLang="ko-KR" b="1" dirty="0"/>
              <a:t> </a:t>
            </a:r>
            <a:r>
              <a:rPr lang="ko-KR" altLang="ko-KR" b="1" dirty="0" err="1"/>
              <a:t>locomotion</a:t>
            </a:r>
            <a:r>
              <a:rPr lang="en-US" altLang="ko-KR" b="1" dirty="0"/>
              <a:t> -- OK</a:t>
            </a:r>
            <a:endParaRPr lang="ko-KR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Foot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pattern이</a:t>
            </a:r>
            <a:r>
              <a:rPr lang="ko-KR" altLang="ko-KR" dirty="0"/>
              <a:t> 직관적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Ex) </a:t>
            </a:r>
            <a:r>
              <a:rPr lang="ko-KR" altLang="ko-KR" dirty="0" err="1"/>
              <a:t>Walk</a:t>
            </a:r>
            <a:r>
              <a:rPr lang="en-US" altLang="ko-KR" dirty="0"/>
              <a:t> /</a:t>
            </a:r>
            <a:r>
              <a:rPr lang="ko-KR" altLang="ko-KR" dirty="0"/>
              <a:t> </a:t>
            </a:r>
            <a:r>
              <a:rPr lang="ko-KR" altLang="ko-KR" dirty="0" err="1"/>
              <a:t>Trot</a:t>
            </a:r>
            <a:r>
              <a:rPr lang="ko-KR" altLang="ko-KR" dirty="0"/>
              <a:t> </a:t>
            </a:r>
            <a:r>
              <a:rPr lang="en-US" altLang="ko-KR" dirty="0"/>
              <a:t>/ Bounding </a:t>
            </a:r>
            <a:r>
              <a:rPr lang="ko-KR" altLang="ko-KR" dirty="0" err="1"/>
              <a:t>gait</a:t>
            </a:r>
            <a:r>
              <a:rPr lang="ko-KR" altLang="ko-KR" dirty="0"/>
              <a:t> </a:t>
            </a:r>
          </a:p>
          <a:p>
            <a:pPr>
              <a:buNone/>
            </a:pPr>
            <a:r>
              <a:rPr lang="ko-KR" altLang="ko-KR" dirty="0"/>
              <a:t>즉, 사람이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sequence와</a:t>
            </a:r>
            <a:r>
              <a:rPr lang="ko-KR" altLang="ko-KR" dirty="0"/>
              <a:t> </a:t>
            </a:r>
            <a:r>
              <a:rPr lang="ko-KR" altLang="ko-KR" dirty="0" err="1"/>
              <a:t>timing을</a:t>
            </a:r>
            <a:r>
              <a:rPr lang="ko-KR" altLang="ko-KR" dirty="0"/>
              <a:t> 어느 정도 설계할 수 있음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6A5FD-4149-A3AF-7B58-EAF1CA2F8BC3}"/>
              </a:ext>
            </a:extLst>
          </p:cNvPr>
          <p:cNvSpPr txBox="1"/>
          <p:nvPr/>
        </p:nvSpPr>
        <p:spPr>
          <a:xfrm>
            <a:off x="276946" y="4239641"/>
            <a:ext cx="84371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D</a:t>
            </a:r>
            <a:r>
              <a:rPr lang="ko-KR" altLang="ko-KR" b="1" dirty="0" err="1"/>
              <a:t>exterous</a:t>
            </a:r>
            <a:r>
              <a:rPr lang="ko-KR" altLang="ko-KR" b="1" dirty="0"/>
              <a:t> </a:t>
            </a:r>
            <a:r>
              <a:rPr lang="ko-KR" altLang="ko-KR" b="1" dirty="0" err="1"/>
              <a:t>manipulation</a:t>
            </a:r>
            <a:r>
              <a:rPr lang="en-US" altLang="ko-KR" b="1" dirty="0"/>
              <a:t> -- ??</a:t>
            </a:r>
            <a:endParaRPr lang="ko-KR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어떤 </a:t>
            </a:r>
            <a:r>
              <a:rPr lang="ko-KR" altLang="ko-KR" dirty="0" err="1"/>
              <a:t>finger가</a:t>
            </a:r>
            <a:r>
              <a:rPr lang="en-US" altLang="ko-KR" dirty="0"/>
              <a:t> </a:t>
            </a:r>
            <a:r>
              <a:rPr lang="ko-KR" altLang="en-US" dirty="0"/>
              <a:t>어디를 </a:t>
            </a:r>
            <a:r>
              <a:rPr lang="ko-KR" altLang="ko-KR" dirty="0" err="1"/>
              <a:t>contact해야</a:t>
            </a:r>
            <a:r>
              <a:rPr lang="ko-KR" altLang="ko-KR" dirty="0"/>
              <a:t> 하는가?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언제 </a:t>
            </a:r>
            <a:r>
              <a:rPr lang="ko-KR" altLang="ko-KR" dirty="0" err="1"/>
              <a:t>push</a:t>
            </a:r>
            <a:r>
              <a:rPr lang="ko-KR" altLang="ko-KR" dirty="0"/>
              <a:t>, </a:t>
            </a:r>
            <a:r>
              <a:rPr lang="ko-KR" altLang="ko-KR" dirty="0" err="1"/>
              <a:t>slide</a:t>
            </a:r>
            <a:r>
              <a:rPr lang="ko-KR" altLang="ko-KR" dirty="0"/>
              <a:t>, </a:t>
            </a:r>
            <a:r>
              <a:rPr lang="ko-KR" altLang="ko-KR" dirty="0" err="1"/>
              <a:t>detach</a:t>
            </a:r>
            <a:r>
              <a:rPr lang="ko-KR" altLang="ko-KR" dirty="0"/>
              <a:t>, </a:t>
            </a:r>
            <a:r>
              <a:rPr lang="ko-KR" altLang="ko-KR" dirty="0" err="1"/>
              <a:t>re-contact해야</a:t>
            </a:r>
            <a:r>
              <a:rPr lang="ko-KR" altLang="ko-KR" dirty="0"/>
              <a:t> 하는가? </a:t>
            </a:r>
          </a:p>
          <a:p>
            <a:pPr>
              <a:buNone/>
            </a:pPr>
            <a:r>
              <a:rPr lang="ko-KR" altLang="en-US" dirty="0"/>
              <a:t>정형화되어 있지 않아 사람이 따로 설계해주기 매우 어려움</a:t>
            </a:r>
            <a:endParaRPr lang="ko-KR" altLang="ko-KR" dirty="0"/>
          </a:p>
        </p:txBody>
      </p:sp>
      <p:pic>
        <p:nvPicPr>
          <p:cNvPr id="17" name="그림 16" descr="The image depicts a black and tan dog performing a trot, with labels indicating left (L) and right (R) steps.&#10;&#10;AI 생성 콘텐츠는 정확하지 않을 수 있습니다.">
            <a:extLst>
              <a:ext uri="{FF2B5EF4-FFF2-40B4-BE49-F238E27FC236}">
                <a16:creationId xmlns:a16="http://schemas.microsoft.com/office/drawing/2014/main" id="{E6D7D845-C411-DF31-3696-EB280E800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509" y="1334750"/>
            <a:ext cx="3610175" cy="2031325"/>
          </a:xfrm>
          <a:prstGeom prst="rect">
            <a:avLst/>
          </a:prstGeom>
        </p:spPr>
      </p:pic>
      <p:pic>
        <p:nvPicPr>
          <p:cNvPr id="21" name="그림 20" descr="A&#10;&#10;AI 생성 콘텐츠는 정확하지 않을 수 있습니다.">
            <a:extLst>
              <a:ext uri="{FF2B5EF4-FFF2-40B4-BE49-F238E27FC236}">
                <a16:creationId xmlns:a16="http://schemas.microsoft.com/office/drawing/2014/main" id="{1A20640D-5030-5537-651E-94882E150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710" y="3562664"/>
            <a:ext cx="3575917" cy="27936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83D6CFA-AE5B-5ED9-C738-E537097D79CF}"/>
              </a:ext>
            </a:extLst>
          </p:cNvPr>
          <p:cNvSpPr txBox="1"/>
          <p:nvPr/>
        </p:nvSpPr>
        <p:spPr>
          <a:xfrm>
            <a:off x="276946" y="5813866"/>
            <a:ext cx="6665275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ko-KR" dirty="0"/>
              <a:t>사람이 정하지 않고,</a:t>
            </a:r>
            <a:r>
              <a:rPr lang="en-US" altLang="ko-KR" dirty="0"/>
              <a:t> </a:t>
            </a:r>
            <a:r>
              <a:rPr lang="ko-KR" altLang="ko-KR" dirty="0" err="1"/>
              <a:t>optimization</a:t>
            </a:r>
            <a:r>
              <a:rPr lang="ko-KR" altLang="en-US" dirty="0" err="1"/>
              <a:t>이</a:t>
            </a:r>
            <a:r>
              <a:rPr lang="ko-KR" altLang="en-US" dirty="0"/>
              <a:t> 알아서 하면 좋겠다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➡</a:t>
            </a:r>
            <a:r>
              <a:rPr lang="en-US" altLang="ko-KR" dirty="0"/>
              <a:t> Contact-</a:t>
            </a:r>
            <a:r>
              <a:rPr lang="en-US" altLang="ko-KR" dirty="0" err="1"/>
              <a:t>Iimplicit</a:t>
            </a:r>
            <a:r>
              <a:rPr lang="en-US" altLang="ko-KR" dirty="0"/>
              <a:t> Trajectory Optimization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68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4"/>
    </mc:Choice>
    <mc:Fallback xmlns="">
      <p:transition spd="slow" advTm="2573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A0584-9B9C-372E-EB72-02370DF6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F49D03-5E09-8820-E39B-3287832D5B8E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75D29A-8E1C-CDD8-EC77-9BEA1BD1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9670D-BDF9-E399-427B-91B5E0FD42BF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2C10CD-316D-1021-CA8C-BC6676802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4D6ED6-B0FF-8B1B-B297-187E85A81A27}"/>
              </a:ext>
            </a:extLst>
          </p:cNvPr>
          <p:cNvSpPr txBox="1"/>
          <p:nvPr/>
        </p:nvSpPr>
        <p:spPr>
          <a:xfrm>
            <a:off x="331316" y="1737598"/>
            <a:ext cx="104709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C</a:t>
            </a:r>
            <a:r>
              <a:rPr lang="ko-KR" altLang="ko-KR" dirty="0" err="1"/>
              <a:t>ontact</a:t>
            </a:r>
            <a:r>
              <a:rPr lang="ko-KR" altLang="ko-KR" dirty="0"/>
              <a:t> </a:t>
            </a:r>
            <a:r>
              <a:rPr lang="ko-KR" altLang="ko-KR" dirty="0" err="1"/>
              <a:t>sequence와</a:t>
            </a:r>
            <a:r>
              <a:rPr lang="ko-KR" altLang="ko-KR" dirty="0"/>
              <a:t> </a:t>
            </a:r>
            <a:r>
              <a:rPr lang="ko-KR" altLang="ko-KR" dirty="0" err="1"/>
              <a:t>timing을</a:t>
            </a:r>
            <a:r>
              <a:rPr lang="en-US" altLang="ko-KR" dirty="0"/>
              <a:t> </a:t>
            </a:r>
            <a:r>
              <a:rPr lang="ko-KR" altLang="ko-KR" dirty="0" err="1"/>
              <a:t>optimization</a:t>
            </a:r>
            <a:r>
              <a:rPr lang="ko-KR" altLang="en-US" dirty="0" err="1"/>
              <a:t>이</a:t>
            </a:r>
            <a:r>
              <a:rPr lang="ko-KR" altLang="en-US" dirty="0"/>
              <a:t> 알아서 하면 좋겠다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But,</a:t>
            </a:r>
            <a:r>
              <a:rPr lang="ko-KR" altLang="ko-KR" dirty="0"/>
              <a:t> </a:t>
            </a:r>
            <a:r>
              <a:rPr lang="ko-KR" altLang="ko-KR" dirty="0" err="1"/>
              <a:t>hard</a:t>
            </a:r>
            <a:r>
              <a:rPr lang="ko-KR" altLang="ko-KR" dirty="0"/>
              <a:t> </a:t>
            </a:r>
            <a:r>
              <a:rPr lang="ko-KR" altLang="ko-KR" dirty="0" err="1"/>
              <a:t>contact은</a:t>
            </a:r>
            <a:r>
              <a:rPr lang="ko-KR" altLang="ko-KR" dirty="0"/>
              <a:t> </a:t>
            </a:r>
            <a:r>
              <a:rPr lang="en-US" altLang="ko-KR" dirty="0"/>
              <a:t>optimization</a:t>
            </a:r>
            <a:r>
              <a:rPr lang="ko-KR" altLang="en-US" dirty="0"/>
              <a:t>으로 </a:t>
            </a:r>
            <a:r>
              <a:rPr lang="ko-KR" altLang="ko-KR" dirty="0"/>
              <a:t>다루기 어려움</a:t>
            </a:r>
            <a:endParaRPr lang="en-US" altLang="ko-KR" dirty="0"/>
          </a:p>
          <a:p>
            <a:r>
              <a:rPr lang="en-US" altLang="ko-KR" dirty="0"/>
              <a:t>   - No-contact</a:t>
            </a:r>
            <a:r>
              <a:rPr lang="ko-KR" altLang="en-US" dirty="0"/>
              <a:t> </a:t>
            </a:r>
            <a:r>
              <a:rPr lang="en-US" altLang="ko-KR" dirty="0"/>
              <a:t>state</a:t>
            </a:r>
            <a:r>
              <a:rPr lang="ko-KR" altLang="en-US" dirty="0"/>
              <a:t>에서 </a:t>
            </a:r>
            <a:r>
              <a:rPr lang="en-US" altLang="ko-KR" dirty="0"/>
              <a:t>contact </a:t>
            </a:r>
            <a:r>
              <a:rPr lang="ko-KR" altLang="en-US" dirty="0"/>
              <a:t>정보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   - </a:t>
            </a:r>
            <a:r>
              <a:rPr lang="ko-KR" altLang="ko-KR" dirty="0" err="1"/>
              <a:t>Contact</a:t>
            </a:r>
            <a:r>
              <a:rPr lang="en-US" altLang="ko-KR" dirty="0"/>
              <a:t> state</a:t>
            </a:r>
            <a:r>
              <a:rPr lang="ko-KR" altLang="en-US" dirty="0"/>
              <a:t>에서는 </a:t>
            </a:r>
            <a:r>
              <a:rPr lang="en-US" altLang="ko-KR" dirty="0"/>
              <a:t>relative velocity </a:t>
            </a:r>
            <a:r>
              <a:rPr lang="ko-KR" altLang="en-US" dirty="0"/>
              <a:t>정보</a:t>
            </a:r>
            <a:r>
              <a:rPr lang="en-US" altLang="ko-KR" dirty="0"/>
              <a:t>x</a:t>
            </a:r>
            <a:endParaRPr lang="ko-KR" altLang="ko-KR" dirty="0"/>
          </a:p>
          <a:p>
            <a:r>
              <a:rPr lang="ko-KR" altLang="ko-KR" dirty="0"/>
              <a:t>➡ </a:t>
            </a:r>
            <a:r>
              <a:rPr lang="ko-KR" altLang="ko-KR" dirty="0" err="1"/>
              <a:t>Objective</a:t>
            </a:r>
            <a:r>
              <a:rPr lang="ko-KR" altLang="en-US" dirty="0" err="1"/>
              <a:t>가</a:t>
            </a:r>
            <a:r>
              <a:rPr lang="ko-KR" altLang="ko-KR" dirty="0"/>
              <a:t> </a:t>
            </a:r>
            <a:r>
              <a:rPr lang="ko-KR" altLang="ko-KR" dirty="0" err="1"/>
              <a:t>non-smooth해질</a:t>
            </a:r>
            <a:r>
              <a:rPr lang="ko-KR" altLang="ko-KR" dirty="0"/>
              <a:t> 수 있음</a:t>
            </a:r>
            <a:endParaRPr lang="en-US" altLang="ko-KR" dirty="0"/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Optimization은</a:t>
            </a:r>
            <a:r>
              <a:rPr lang="ko-KR" altLang="ko-KR" dirty="0"/>
              <a:t> 기본적으로 </a:t>
            </a:r>
            <a:r>
              <a:rPr lang="ko-KR" altLang="ko-KR" dirty="0" err="1"/>
              <a:t>gradient</a:t>
            </a:r>
            <a:r>
              <a:rPr lang="ko-KR" altLang="ko-KR" dirty="0"/>
              <a:t> 정보를 이용해</a:t>
            </a:r>
            <a:br>
              <a:rPr lang="en-US" altLang="ko-KR" dirty="0"/>
            </a:br>
            <a:r>
              <a:rPr lang="ko-KR" altLang="ko-KR" dirty="0"/>
              <a:t>“어느 방향으로 움직이면 더 좋아지는가?”를 판단</a:t>
            </a:r>
            <a:endParaRPr lang="en-US" altLang="ko-KR" dirty="0"/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그런데 </a:t>
            </a:r>
            <a:r>
              <a:rPr lang="ko-KR" altLang="ko-KR" dirty="0" err="1"/>
              <a:t>contact</a:t>
            </a:r>
            <a:r>
              <a:rPr lang="ko-KR" altLang="ko-KR" dirty="0"/>
              <a:t> 때문에 함수가 끊어진 형태가 되면,</a:t>
            </a:r>
            <a:br>
              <a:rPr lang="ko-KR" altLang="ko-KR" dirty="0"/>
            </a:br>
            <a:r>
              <a:rPr lang="ko-KR" altLang="ko-KR" dirty="0" err="1"/>
              <a:t>gradient를</a:t>
            </a:r>
            <a:r>
              <a:rPr lang="ko-KR" altLang="ko-KR" dirty="0"/>
              <a:t> </a:t>
            </a:r>
            <a:r>
              <a:rPr lang="ko-KR" altLang="en-US" dirty="0"/>
              <a:t>통해 </a:t>
            </a:r>
            <a:r>
              <a:rPr lang="ko-KR" altLang="ko-KR" dirty="0"/>
              <a:t>좋은 해를 찾기 </a:t>
            </a:r>
            <a:r>
              <a:rPr lang="ko-KR" altLang="ko-KR" dirty="0" err="1"/>
              <a:t>어려워짐</a:t>
            </a:r>
            <a:endParaRPr lang="ko-KR" altLang="ko-KR" dirty="0"/>
          </a:p>
          <a:p>
            <a:endParaRPr lang="ko-KR" altLang="ko-KR" dirty="0"/>
          </a:p>
          <a:p>
            <a:endParaRPr lang="ko-KR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7B06C-74E2-806C-DBDD-B5C5E5CB4322}"/>
              </a:ext>
            </a:extLst>
          </p:cNvPr>
          <p:cNvSpPr txBox="1"/>
          <p:nvPr/>
        </p:nvSpPr>
        <p:spPr>
          <a:xfrm>
            <a:off x="331316" y="1044134"/>
            <a:ext cx="10470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 err="1"/>
              <a:t>Contact-Implicit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Optimization의</a:t>
            </a:r>
            <a:r>
              <a:rPr lang="ko-KR" altLang="ko-KR" sz="2000" b="1" dirty="0"/>
              <a:t> </a:t>
            </a:r>
            <a:r>
              <a:rPr lang="ko-KR" altLang="en-US" sz="2000" b="1" dirty="0"/>
              <a:t>어려움</a:t>
            </a:r>
          </a:p>
        </p:txBody>
      </p:sp>
      <p:pic>
        <p:nvPicPr>
          <p:cNvPr id="20" name="그림 19" descr="The diagram represents a cost function J(u) plotted against the variable u, showing a downward trend until it reaches a minimum, then it increases again.&#10;&#10;AI 생성 콘텐츠는 정확하지 않을 수 있습니다.">
            <a:extLst>
              <a:ext uri="{FF2B5EF4-FFF2-40B4-BE49-F238E27FC236}">
                <a16:creationId xmlns:a16="http://schemas.microsoft.com/office/drawing/2014/main" id="{61ACC642-8EDB-CBBC-BF77-C373E6F49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363" y="2163634"/>
            <a:ext cx="3336774" cy="291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65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34"/>
    </mc:Choice>
    <mc:Fallback>
      <p:transition spd="slow" advTm="2573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C9B4-E5BF-A900-C7D5-351E1344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500986-0335-5414-D4B4-94703B79DE95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8B0EF-68AD-3F65-CF61-E870EC57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A219C5-B601-70B5-DE18-22C1BE0D86F2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09442D-AEC2-C946-317F-FBAEFAFAAF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6E020F-EAEA-3F30-D925-ABFA5432B185}"/>
              </a:ext>
            </a:extLst>
          </p:cNvPr>
          <p:cNvSpPr txBox="1"/>
          <p:nvPr/>
        </p:nvSpPr>
        <p:spPr>
          <a:xfrm>
            <a:off x="331316" y="1676307"/>
            <a:ext cx="104709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 err="1"/>
              <a:t>contact를</a:t>
            </a:r>
            <a:r>
              <a:rPr lang="ko-KR" altLang="ko-KR" b="1" dirty="0"/>
              <a:t> </a:t>
            </a:r>
            <a:r>
              <a:rPr lang="ko-KR" altLang="ko-KR" b="1" dirty="0" err="1"/>
              <a:t>optimization-friendly하게</a:t>
            </a:r>
            <a:r>
              <a:rPr lang="ko-KR" altLang="ko-KR" b="1" dirty="0"/>
              <a:t> 만들기</a:t>
            </a:r>
          </a:p>
          <a:p>
            <a:r>
              <a:rPr lang="ko-KR" altLang="ko-KR" dirty="0" err="1"/>
              <a:t>hard</a:t>
            </a:r>
            <a:r>
              <a:rPr lang="ko-KR" altLang="ko-KR" dirty="0"/>
              <a:t> </a:t>
            </a:r>
            <a:r>
              <a:rPr lang="ko-KR" altLang="ko-KR" dirty="0" err="1"/>
              <a:t>contact에서</a:t>
            </a:r>
            <a:r>
              <a:rPr lang="ko-KR" altLang="ko-KR" dirty="0"/>
              <a:t> 생기는 </a:t>
            </a:r>
            <a:r>
              <a:rPr lang="ko-KR" altLang="ko-KR" dirty="0" err="1"/>
              <a:t>discontinuity를</a:t>
            </a:r>
            <a:br>
              <a:rPr lang="ko-KR" altLang="ko-KR" dirty="0"/>
            </a:br>
            <a:r>
              <a:rPr lang="ko-KR" altLang="ko-KR" dirty="0" err="1"/>
              <a:t>optimization이</a:t>
            </a:r>
            <a:r>
              <a:rPr lang="ko-KR" altLang="ko-KR" dirty="0"/>
              <a:t> 다루기 쉬운 형태로 </a:t>
            </a:r>
            <a:r>
              <a:rPr lang="ko-KR" altLang="ko-KR" b="1" dirty="0" err="1"/>
              <a:t>relaxation</a:t>
            </a:r>
            <a:r>
              <a:rPr lang="ko-KR" altLang="ko-KR" dirty="0" err="1"/>
              <a:t>하는</a:t>
            </a:r>
            <a:r>
              <a:rPr lang="ko-KR" altLang="ko-KR" dirty="0"/>
              <a:t> 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8ED75-4BB6-4F1F-0C3B-8B72A29FC338}"/>
              </a:ext>
            </a:extLst>
          </p:cNvPr>
          <p:cNvSpPr txBox="1"/>
          <p:nvPr/>
        </p:nvSpPr>
        <p:spPr>
          <a:xfrm>
            <a:off x="331316" y="2796710"/>
            <a:ext cx="84371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목표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sequence를</a:t>
            </a:r>
            <a:r>
              <a:rPr lang="ko-KR" altLang="ko-KR" dirty="0"/>
              <a:t> 미리 주지 않아도 </a:t>
            </a:r>
            <a:r>
              <a:rPr lang="ko-KR" altLang="ko-KR" dirty="0" err="1"/>
              <a:t>optimizer가</a:t>
            </a:r>
            <a:r>
              <a:rPr lang="ko-KR" altLang="ko-KR" dirty="0"/>
              <a:t> </a:t>
            </a:r>
            <a:r>
              <a:rPr lang="ko-KR" altLang="ko-KR" dirty="0" err="1"/>
              <a:t>contact을</a:t>
            </a:r>
            <a:r>
              <a:rPr lang="ko-KR" altLang="ko-KR" dirty="0"/>
              <a:t> 찾도록 함 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 err="1"/>
              <a:t>Physically</a:t>
            </a:r>
            <a:r>
              <a:rPr lang="ko-KR" altLang="ko-KR" dirty="0"/>
              <a:t> </a:t>
            </a:r>
            <a:r>
              <a:rPr lang="en-US" altLang="ko-KR" dirty="0"/>
              <a:t>feasible</a:t>
            </a:r>
            <a:r>
              <a:rPr lang="ko-KR" altLang="ko-KR" dirty="0"/>
              <a:t>한 </a:t>
            </a:r>
            <a:r>
              <a:rPr lang="ko-KR" altLang="ko-KR" dirty="0" err="1"/>
              <a:t>motion을</a:t>
            </a:r>
            <a:r>
              <a:rPr lang="ko-KR" altLang="ko-KR" dirty="0"/>
              <a:t> 생성 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ko-KR" dirty="0"/>
              <a:t>동시에 </a:t>
            </a:r>
            <a:r>
              <a:rPr lang="ko-KR" altLang="ko-KR" dirty="0" err="1"/>
              <a:t>optimization</a:t>
            </a:r>
            <a:r>
              <a:rPr lang="ko-KR" altLang="ko-KR" dirty="0"/>
              <a:t> </a:t>
            </a:r>
            <a:r>
              <a:rPr lang="ko-KR" altLang="ko-KR" dirty="0" err="1"/>
              <a:t>problem은</a:t>
            </a:r>
            <a:r>
              <a:rPr lang="ko-KR" altLang="ko-KR" dirty="0"/>
              <a:t> </a:t>
            </a:r>
            <a:r>
              <a:rPr lang="ko-KR" altLang="ko-KR" dirty="0" err="1"/>
              <a:t>tractable하게</a:t>
            </a:r>
            <a:r>
              <a:rPr lang="ko-KR" altLang="ko-KR" dirty="0"/>
              <a:t> 유지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9FD01-CD51-E4C3-E058-D8E32F746534}"/>
              </a:ext>
            </a:extLst>
          </p:cNvPr>
          <p:cNvSpPr txBox="1"/>
          <p:nvPr/>
        </p:nvSpPr>
        <p:spPr>
          <a:xfrm>
            <a:off x="331316" y="1044134"/>
            <a:ext cx="10470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연구 방향</a:t>
            </a:r>
            <a:endParaRPr lang="ko-KR" altLang="en-US" sz="2000" b="1" dirty="0"/>
          </a:p>
        </p:txBody>
      </p:sp>
      <p:pic>
        <p:nvPicPr>
          <p:cNvPr id="9" name="온라인 미디어 8" title="202510012241 Ball randomorientation goodController">
            <a:hlinkClick r:id="" action="ppaction://media"/>
            <a:extLst>
              <a:ext uri="{FF2B5EF4-FFF2-40B4-BE49-F238E27FC236}">
                <a16:creationId xmlns:a16="http://schemas.microsoft.com/office/drawing/2014/main" id="{E5A638A6-B266-DBC2-2987-AAAA877982C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133378" y="4194112"/>
            <a:ext cx="4150087" cy="2344799"/>
          </a:xfrm>
          <a:prstGeom prst="rect">
            <a:avLst/>
          </a:prstGeom>
        </p:spPr>
      </p:pic>
      <p:pic>
        <p:nvPicPr>
          <p:cNvPr id="13" name="온라인 미디어 12" title="202509231401 Box randomorientation goodController 0 2box 10maxiter fast x0 5">
            <a:hlinkClick r:id="" action="ppaction://media"/>
            <a:extLst>
              <a:ext uri="{FF2B5EF4-FFF2-40B4-BE49-F238E27FC236}">
                <a16:creationId xmlns:a16="http://schemas.microsoft.com/office/drawing/2014/main" id="{28158866-01FE-25A8-555C-4AB0DC02EF40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5764059" y="4194113"/>
            <a:ext cx="4150087" cy="234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58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34"/>
    </mc:Choice>
    <mc:Fallback>
      <p:transition spd="slow" advTm="257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74F0-3743-4E84-A946-E4BEB41E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FD0BF9-DD57-CC56-EB5E-9BF31C6C34DC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44FF9-97E6-0E61-26E8-EEC10A9A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A4EA7-0A4E-51F5-05B1-871371F55D7A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D048C3-70D3-BA9E-9386-D37F002B39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9DCFD3-5140-82D2-6D3B-4DA92503EBE3}"/>
              </a:ext>
            </a:extLst>
          </p:cNvPr>
          <p:cNvSpPr txBox="1"/>
          <p:nvPr/>
        </p:nvSpPr>
        <p:spPr>
          <a:xfrm>
            <a:off x="331316" y="1631052"/>
            <a:ext cx="104709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General-</a:t>
            </a:r>
            <a:r>
              <a:rPr lang="ko-KR" altLang="ko-KR" sz="2000" b="1" dirty="0" err="1"/>
              <a:t>purpose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controller로</a:t>
            </a:r>
            <a:r>
              <a:rPr lang="ko-KR" altLang="ko-KR" sz="2000" b="1" dirty="0"/>
              <a:t> 사용하기에는 아직 한계</a:t>
            </a:r>
          </a:p>
          <a:p>
            <a:r>
              <a:rPr lang="ko-KR" altLang="ko-KR" sz="2000" dirty="0" err="1"/>
              <a:t>Contact-implicit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trajectory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optimization이</a:t>
            </a:r>
            <a:r>
              <a:rPr lang="ko-KR" altLang="ko-KR" sz="2000" dirty="0"/>
              <a:t> 모든 </a:t>
            </a:r>
            <a:r>
              <a:rPr lang="ko-KR" altLang="ko-KR" sz="2000" dirty="0" err="1"/>
              <a:t>robot을</a:t>
            </a:r>
            <a:r>
              <a:rPr lang="ko-KR" altLang="ko-KR" sz="2000" dirty="0"/>
              <a:t> 제어하는</a:t>
            </a:r>
            <a:br>
              <a:rPr lang="ko-KR" altLang="ko-KR" sz="2000" dirty="0"/>
            </a:br>
            <a:r>
              <a:rPr lang="ko-KR" altLang="ko-KR" sz="2000" dirty="0"/>
              <a:t>단일 범용 </a:t>
            </a:r>
            <a:r>
              <a:rPr lang="ko-KR" altLang="ko-KR" sz="2000" dirty="0" err="1"/>
              <a:t>controller가</a:t>
            </a:r>
            <a:r>
              <a:rPr lang="ko-KR" altLang="ko-KR" sz="2000" dirty="0"/>
              <a:t> 되기는 어렵다고 생각함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6FC98-AED4-3D8F-405D-E9A7EAAD4E7F}"/>
              </a:ext>
            </a:extLst>
          </p:cNvPr>
          <p:cNvSpPr txBox="1"/>
          <p:nvPr/>
        </p:nvSpPr>
        <p:spPr>
          <a:xfrm>
            <a:off x="331315" y="2798046"/>
            <a:ext cx="89089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이유</a:t>
            </a:r>
          </a:p>
          <a:p>
            <a:r>
              <a:rPr lang="ko-KR" altLang="ko-KR" dirty="0" err="1"/>
              <a:t>Relaxation을</a:t>
            </a:r>
            <a:r>
              <a:rPr lang="ko-KR" altLang="ko-KR" dirty="0"/>
              <a:t> 하더라도 여전히 문제가 있음</a:t>
            </a:r>
          </a:p>
          <a:p>
            <a:r>
              <a:rPr lang="ko-KR" altLang="ko-KR" b="1" dirty="0" err="1"/>
              <a:t>Local</a:t>
            </a:r>
            <a:r>
              <a:rPr lang="ko-KR" altLang="ko-KR" b="1" dirty="0"/>
              <a:t> </a:t>
            </a:r>
            <a:r>
              <a:rPr lang="ko-KR" altLang="ko-KR" b="1" dirty="0" err="1"/>
              <a:t>minimum</a:t>
            </a:r>
            <a:r>
              <a:rPr lang="ko-KR" altLang="ko-KR" dirty="0"/>
              <a:t> </a:t>
            </a:r>
          </a:p>
          <a:p>
            <a:pPr lvl="1"/>
            <a:r>
              <a:rPr lang="en-US" altLang="ko-KR" dirty="0" err="1"/>
              <a:t>NonConvex</a:t>
            </a:r>
            <a:r>
              <a:rPr lang="ko-KR" altLang="en-US" dirty="0"/>
              <a:t> </a:t>
            </a:r>
            <a:r>
              <a:rPr lang="en-US" altLang="ko-KR" dirty="0"/>
              <a:t>Optimization</a:t>
            </a:r>
            <a:r>
              <a:rPr lang="ko-KR" altLang="en-US" dirty="0"/>
              <a:t>이기 때문에 여전히 </a:t>
            </a:r>
            <a:r>
              <a:rPr lang="en-US" altLang="ko-KR" dirty="0"/>
              <a:t>local minimum </a:t>
            </a:r>
            <a:r>
              <a:rPr lang="ko-KR" altLang="en-US" dirty="0"/>
              <a:t>문제는 남아있음</a:t>
            </a:r>
            <a:endParaRPr lang="ko-KR" altLang="ko-KR" dirty="0"/>
          </a:p>
          <a:p>
            <a:endParaRPr lang="en-US" altLang="ko-KR" b="1" dirty="0"/>
          </a:p>
          <a:p>
            <a:r>
              <a:rPr lang="ko-KR" altLang="ko-KR" b="1" dirty="0" err="1"/>
              <a:t>Relaxation</a:t>
            </a:r>
            <a:r>
              <a:rPr lang="ko-KR" altLang="ko-KR" b="1" dirty="0"/>
              <a:t> </a:t>
            </a:r>
            <a:r>
              <a:rPr lang="ko-KR" altLang="ko-KR" b="1" dirty="0" err="1"/>
              <a:t>bias</a:t>
            </a:r>
            <a:r>
              <a:rPr lang="ko-KR" altLang="ko-KR" dirty="0"/>
              <a:t> </a:t>
            </a:r>
          </a:p>
          <a:p>
            <a:pPr lvl="1"/>
            <a:r>
              <a:rPr lang="ko-KR" altLang="ko-KR" dirty="0" err="1"/>
              <a:t>Contact를</a:t>
            </a:r>
            <a:r>
              <a:rPr lang="ko-KR" altLang="ko-KR" dirty="0"/>
              <a:t> 다루기 쉽게 바꾸는 과정에서 원래 </a:t>
            </a:r>
            <a:r>
              <a:rPr lang="en-US" altLang="ko-KR" dirty="0"/>
              <a:t>optimum</a:t>
            </a:r>
            <a:r>
              <a:rPr lang="ko-KR" altLang="en-US" dirty="0"/>
              <a:t>과 </a:t>
            </a:r>
            <a:r>
              <a:rPr lang="ko-KR" altLang="ko-KR" dirty="0"/>
              <a:t>차이가 생길 수 있음 </a:t>
            </a:r>
          </a:p>
          <a:p>
            <a:endParaRPr lang="en-US" altLang="ko-KR" b="1" dirty="0"/>
          </a:p>
          <a:p>
            <a:r>
              <a:rPr lang="ko-KR" altLang="ko-KR" b="1" dirty="0" err="1"/>
              <a:t>Robustness</a:t>
            </a:r>
            <a:r>
              <a:rPr lang="ko-KR" altLang="ko-KR" dirty="0"/>
              <a:t> </a:t>
            </a:r>
          </a:p>
          <a:p>
            <a:pPr lvl="1"/>
            <a:r>
              <a:rPr lang="ko-KR" altLang="en-US" dirty="0"/>
              <a:t>체감상 </a:t>
            </a:r>
            <a:r>
              <a:rPr lang="en-US" altLang="ko-KR" dirty="0"/>
              <a:t>RL</a:t>
            </a:r>
            <a:r>
              <a:rPr lang="ko-KR" altLang="en-US" dirty="0"/>
              <a:t>과 비슷한 정도의 강건함은 </a:t>
            </a:r>
            <a:r>
              <a:rPr lang="ko-KR" altLang="en-US" dirty="0" err="1"/>
              <a:t>없어보임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2034C-4211-51DF-D6F9-BC6DD681221D}"/>
              </a:ext>
            </a:extLst>
          </p:cNvPr>
          <p:cNvSpPr txBox="1"/>
          <p:nvPr/>
        </p:nvSpPr>
        <p:spPr>
          <a:xfrm>
            <a:off x="331315" y="5811700"/>
            <a:ext cx="9311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따라서 이를 </a:t>
            </a:r>
            <a:r>
              <a:rPr lang="ko-KR" altLang="ko-KR" dirty="0" err="1"/>
              <a:t>MPC처럼</a:t>
            </a:r>
            <a:r>
              <a:rPr lang="ko-KR" altLang="ko-KR" dirty="0"/>
              <a:t> 사용하더라도,</a:t>
            </a:r>
            <a:r>
              <a:rPr lang="en-US" altLang="ko-KR" dirty="0"/>
              <a:t> </a:t>
            </a:r>
            <a:r>
              <a:rPr lang="ko-KR" altLang="ko-KR" dirty="0" err="1"/>
              <a:t>controller로서의</a:t>
            </a:r>
            <a:r>
              <a:rPr lang="ko-KR" altLang="ko-KR" dirty="0"/>
              <a:t> 가치는 아직 제한적이라고 생각함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888A1-5787-FA18-B1B9-D21D1870CA2D}"/>
              </a:ext>
            </a:extLst>
          </p:cNvPr>
          <p:cNvSpPr txBox="1"/>
          <p:nvPr/>
        </p:nvSpPr>
        <p:spPr>
          <a:xfrm>
            <a:off x="331316" y="1044134"/>
            <a:ext cx="10470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현실적인 한계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6705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34"/>
    </mc:Choice>
    <mc:Fallback>
      <p:transition spd="slow" advTm="2573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3ED8-550A-9FF4-1BD4-C3345A1B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98038B-1F59-ACCE-67FE-EA39089AE9E1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8EF609-5FD7-2E1E-25B2-2010F1D5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943C87-DEF1-BE44-F506-FC5B423E4C9B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2800" b="1" dirty="0">
                <a:latin typeface="Arial"/>
                <a:ea typeface="맑은 고딕"/>
                <a:cs typeface="Arial"/>
              </a:rPr>
              <a:t>Research: </a:t>
            </a:r>
            <a:r>
              <a:rPr lang="ko-KR" altLang="ko-KR" sz="2800" b="1" dirty="0" err="1"/>
              <a:t>Contact-Implicit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Trajectory</a:t>
            </a:r>
            <a:r>
              <a:rPr lang="ko-KR" altLang="ko-KR" sz="2800" b="1" dirty="0"/>
              <a:t> </a:t>
            </a:r>
            <a:r>
              <a:rPr lang="ko-KR" altLang="ko-KR" sz="2800" b="1" dirty="0" err="1"/>
              <a:t>Optimization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D3A44B-5D95-7A59-5F5F-21333A28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2AE3E5-445A-C567-30B3-7891EE352073}"/>
              </a:ext>
            </a:extLst>
          </p:cNvPr>
          <p:cNvSpPr txBox="1"/>
          <p:nvPr/>
        </p:nvSpPr>
        <p:spPr>
          <a:xfrm>
            <a:off x="331316" y="1654649"/>
            <a:ext cx="10470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기대하는 활용 분야: </a:t>
            </a:r>
            <a:r>
              <a:rPr lang="ko-KR" altLang="ko-KR" b="1" dirty="0" err="1"/>
              <a:t>Motion</a:t>
            </a:r>
            <a:r>
              <a:rPr lang="ko-KR" altLang="ko-KR" b="1" dirty="0"/>
              <a:t> </a:t>
            </a:r>
            <a:r>
              <a:rPr lang="ko-KR" altLang="ko-KR" b="1" dirty="0" err="1"/>
              <a:t>Retargeting</a:t>
            </a:r>
            <a:r>
              <a:rPr lang="en-US" altLang="ko-KR" b="1" dirty="0"/>
              <a:t>?</a:t>
            </a:r>
            <a:endParaRPr lang="ko-KR" altLang="ko-KR" b="1" dirty="0"/>
          </a:p>
          <a:p>
            <a:r>
              <a:rPr lang="ko-KR" altLang="ko-KR" dirty="0"/>
              <a:t>이 </a:t>
            </a:r>
            <a:r>
              <a:rPr lang="ko-KR" altLang="ko-KR" dirty="0" err="1"/>
              <a:t>framework가</a:t>
            </a:r>
            <a:r>
              <a:rPr lang="ko-KR" altLang="ko-KR" dirty="0"/>
              <a:t> 특히 유용할 수 있다고 생각하는 분야는 </a:t>
            </a:r>
            <a:r>
              <a:rPr lang="ko-KR" altLang="ko-KR" b="1" dirty="0" err="1"/>
              <a:t>motion</a:t>
            </a:r>
            <a:r>
              <a:rPr lang="ko-KR" altLang="ko-KR" b="1" dirty="0"/>
              <a:t> </a:t>
            </a:r>
            <a:r>
              <a:rPr lang="ko-KR" altLang="ko-KR" b="1" dirty="0" err="1"/>
              <a:t>retargeting</a:t>
            </a:r>
            <a:endParaRPr lang="ko-KR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95B14-19B6-FA93-4D3E-A4F336EC159E}"/>
              </a:ext>
            </a:extLst>
          </p:cNvPr>
          <p:cNvSpPr txBox="1"/>
          <p:nvPr/>
        </p:nvSpPr>
        <p:spPr>
          <a:xfrm>
            <a:off x="331316" y="2464622"/>
            <a:ext cx="84371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대상</a:t>
            </a:r>
          </a:p>
          <a:p>
            <a:r>
              <a:rPr lang="ko-KR" altLang="ko-KR" dirty="0" err="1"/>
              <a:t>Object</a:t>
            </a:r>
            <a:r>
              <a:rPr lang="ko-KR" altLang="ko-KR" dirty="0"/>
              <a:t> </a:t>
            </a:r>
            <a:r>
              <a:rPr lang="ko-KR" altLang="ko-KR" dirty="0" err="1"/>
              <a:t>interaction</a:t>
            </a:r>
            <a:r>
              <a:rPr lang="ko-KR" altLang="ko-KR" dirty="0"/>
              <a:t> </a:t>
            </a:r>
            <a:r>
              <a:rPr lang="ko-KR" altLang="ko-KR" dirty="0" err="1"/>
              <a:t>motion</a:t>
            </a:r>
            <a:r>
              <a:rPr lang="ko-KR" altLang="ko-KR" dirty="0"/>
              <a:t> </a:t>
            </a:r>
            <a:r>
              <a:rPr lang="ko-KR" altLang="ko-KR" dirty="0" err="1"/>
              <a:t>dataset</a:t>
            </a:r>
            <a:r>
              <a:rPr lang="ko-KR" altLang="ko-KR" dirty="0"/>
              <a:t> </a:t>
            </a:r>
          </a:p>
          <a:p>
            <a:r>
              <a:rPr lang="ko-KR" altLang="ko-KR" dirty="0" err="1"/>
              <a:t>Dexterous</a:t>
            </a:r>
            <a:r>
              <a:rPr lang="ko-KR" altLang="ko-KR" dirty="0"/>
              <a:t> </a:t>
            </a:r>
            <a:r>
              <a:rPr lang="ko-KR" altLang="ko-KR" dirty="0" err="1"/>
              <a:t>manipulation</a:t>
            </a:r>
            <a:r>
              <a:rPr lang="ko-KR" altLang="ko-KR" dirty="0"/>
              <a:t> </a:t>
            </a:r>
            <a:r>
              <a:rPr lang="ko-KR" altLang="ko-KR" dirty="0" err="1"/>
              <a:t>dataset</a:t>
            </a:r>
            <a:r>
              <a:rPr lang="ko-KR" altLang="ko-KR" dirty="0"/>
              <a:t> </a:t>
            </a:r>
          </a:p>
          <a:p>
            <a:r>
              <a:rPr lang="ko-KR" altLang="ko-KR" dirty="0" err="1"/>
              <a:t>Human-object</a:t>
            </a:r>
            <a:r>
              <a:rPr lang="ko-KR" altLang="ko-KR" dirty="0"/>
              <a:t> </a:t>
            </a:r>
            <a:r>
              <a:rPr lang="ko-KR" altLang="ko-KR" dirty="0" err="1"/>
              <a:t>interaction</a:t>
            </a:r>
            <a:r>
              <a:rPr lang="ko-KR" altLang="ko-KR" dirty="0"/>
              <a:t> </a:t>
            </a:r>
            <a:r>
              <a:rPr lang="ko-KR" altLang="ko-KR" dirty="0" err="1"/>
              <a:t>dataset</a:t>
            </a:r>
            <a:r>
              <a:rPr lang="ko-KR" altLang="ko-KR" dirty="0"/>
              <a:t> </a:t>
            </a:r>
          </a:p>
          <a:p>
            <a:r>
              <a:rPr lang="ko-KR" altLang="ko-KR" dirty="0"/>
              <a:t>다른 </a:t>
            </a:r>
            <a:r>
              <a:rPr lang="ko-KR" altLang="ko-KR" dirty="0" err="1"/>
              <a:t>robot</a:t>
            </a:r>
            <a:r>
              <a:rPr lang="ko-KR" altLang="ko-KR" dirty="0"/>
              <a:t> </a:t>
            </a:r>
            <a:r>
              <a:rPr lang="ko-KR" altLang="ko-KR" dirty="0" err="1"/>
              <a:t>hand</a:t>
            </a:r>
            <a:r>
              <a:rPr lang="ko-KR" altLang="ko-KR" dirty="0"/>
              <a:t> / </a:t>
            </a:r>
            <a:r>
              <a:rPr lang="ko-KR" altLang="ko-KR" dirty="0" err="1"/>
              <a:t>gripper로의</a:t>
            </a:r>
            <a:r>
              <a:rPr lang="ko-KR" altLang="ko-KR" dirty="0"/>
              <a:t> </a:t>
            </a:r>
            <a:r>
              <a:rPr lang="ko-KR" altLang="ko-KR" dirty="0" err="1"/>
              <a:t>motion</a:t>
            </a:r>
            <a:r>
              <a:rPr lang="ko-KR" altLang="ko-KR" dirty="0"/>
              <a:t> </a:t>
            </a:r>
            <a:r>
              <a:rPr lang="ko-KR" altLang="ko-KR" dirty="0" err="1"/>
              <a:t>transfer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2F6FC-B51E-4379-9042-0FFEEF08AEC9}"/>
              </a:ext>
            </a:extLst>
          </p:cNvPr>
          <p:cNvSpPr txBox="1"/>
          <p:nvPr/>
        </p:nvSpPr>
        <p:spPr>
          <a:xfrm>
            <a:off x="276946" y="4073137"/>
            <a:ext cx="84371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이런 </a:t>
            </a:r>
            <a:r>
              <a:rPr lang="ko-KR" altLang="ko-KR" dirty="0" err="1"/>
              <a:t>dataset에서는</a:t>
            </a:r>
            <a:r>
              <a:rPr lang="ko-KR" altLang="ko-KR" dirty="0"/>
              <a:t> 보통</a:t>
            </a:r>
          </a:p>
          <a:p>
            <a:r>
              <a:rPr lang="ko-KR" altLang="ko-KR" dirty="0" err="1"/>
              <a:t>Contact</a:t>
            </a:r>
            <a:r>
              <a:rPr lang="ko-KR" altLang="ko-KR" dirty="0"/>
              <a:t> </a:t>
            </a:r>
            <a:r>
              <a:rPr lang="ko-KR" altLang="ko-KR" dirty="0" err="1"/>
              <a:t>label이</a:t>
            </a:r>
            <a:r>
              <a:rPr lang="ko-KR" altLang="ko-KR" dirty="0"/>
              <a:t> 없는 경우가 많음 </a:t>
            </a:r>
          </a:p>
          <a:p>
            <a:r>
              <a:rPr lang="ko-KR" altLang="ko-KR" dirty="0"/>
              <a:t>있더라도 </a:t>
            </a:r>
            <a:r>
              <a:rPr lang="en-US" altLang="ko-KR" dirty="0"/>
              <a:t>r</a:t>
            </a:r>
            <a:r>
              <a:rPr lang="ko-KR" altLang="ko-KR" dirty="0" err="1"/>
              <a:t>obot</a:t>
            </a:r>
            <a:r>
              <a:rPr lang="ko-KR" altLang="ko-KR" dirty="0"/>
              <a:t> </a:t>
            </a:r>
            <a:r>
              <a:rPr lang="ko-KR" altLang="ko-KR" dirty="0" err="1"/>
              <a:t>morphology가</a:t>
            </a:r>
            <a:r>
              <a:rPr lang="ko-KR" altLang="ko-KR" dirty="0"/>
              <a:t> 바뀌면 기존 </a:t>
            </a:r>
            <a:r>
              <a:rPr lang="ko-KR" altLang="ko-KR" dirty="0" err="1"/>
              <a:t>contact</a:t>
            </a:r>
            <a:r>
              <a:rPr lang="ko-KR" altLang="ko-KR" dirty="0"/>
              <a:t> 정보를 그대로 쓰기 어려움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9C6BA-337F-D570-AF85-70C1451B5468}"/>
              </a:ext>
            </a:extLst>
          </p:cNvPr>
          <p:cNvSpPr txBox="1"/>
          <p:nvPr/>
        </p:nvSpPr>
        <p:spPr>
          <a:xfrm>
            <a:off x="331316" y="1044134"/>
            <a:ext cx="10470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그럼 어디에 쓸 수 있을까?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05682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34"/>
    </mc:Choice>
    <mc:Fallback>
      <p:transition spd="slow" advTm="2573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FC9B-6B2C-25DF-DF96-6CE89138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882381-A476-642E-1755-2607E83ED5A5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815774-5A0B-9CF7-0D5C-F46E4EAF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6069FD-56CF-EF63-24BF-DDA1F206EB3D}"/>
              </a:ext>
            </a:extLst>
          </p:cNvPr>
          <p:cNvSpPr txBox="1"/>
          <p:nvPr/>
        </p:nvSpPr>
        <p:spPr>
          <a:xfrm>
            <a:off x="276946" y="128713"/>
            <a:ext cx="1047093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ko-KR" sz="2800" b="1" dirty="0"/>
              <a:t>모임에서 나누고 싶은 이야기</a:t>
            </a:r>
            <a:endParaRPr lang="en-US" altLang="ko-KR" sz="2800" b="1" dirty="0">
              <a:latin typeface="Arial"/>
              <a:ea typeface="맑은 고딕"/>
              <a:cs typeface="Arial"/>
            </a:endParaRPr>
          </a:p>
        </p:txBody>
      </p:sp>
      <p:pic>
        <p:nvPicPr>
          <p:cNvPr id="5" name="그림 4" descr="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44177C-0C54-942D-6A53-C4F3DBD14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059" t="-409" r="-77620" b="-9357"/>
          <a:stretch>
            <a:fillRect/>
          </a:stretch>
        </p:blipFill>
        <p:spPr>
          <a:xfrm>
            <a:off x="14427868" y="1208376"/>
            <a:ext cx="2446367" cy="37698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FD38C7-A895-9BFA-EB4C-6718443D183E}"/>
              </a:ext>
            </a:extLst>
          </p:cNvPr>
          <p:cNvSpPr txBox="1"/>
          <p:nvPr/>
        </p:nvSpPr>
        <p:spPr>
          <a:xfrm>
            <a:off x="276946" y="1525872"/>
            <a:ext cx="65627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dirty="0" err="1"/>
              <a:t>Elbaph를</a:t>
            </a:r>
            <a:r>
              <a:rPr lang="ko-KR" altLang="ko-KR" sz="2000" dirty="0"/>
              <a:t> 읽어보며, 각자의 분야에서 경험을 통해 얻은 </a:t>
            </a:r>
            <a:r>
              <a:rPr lang="ko-KR" altLang="ko-KR" sz="2000" b="1" dirty="0" err="1"/>
              <a:t>insight를</a:t>
            </a:r>
            <a:r>
              <a:rPr lang="ko-KR" altLang="ko-KR" sz="2000" b="1" dirty="0"/>
              <a:t> 공유하는 모임</a:t>
            </a:r>
            <a:r>
              <a:rPr lang="ko-KR" altLang="ko-KR" sz="2000" dirty="0"/>
              <a:t>이라는 인상을 받음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6F7B29-E820-39F1-BB5E-58205A6F0B41}"/>
              </a:ext>
            </a:extLst>
          </p:cNvPr>
          <p:cNvSpPr txBox="1"/>
          <p:nvPr/>
        </p:nvSpPr>
        <p:spPr>
          <a:xfrm>
            <a:off x="276946" y="2807656"/>
            <a:ext cx="84371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내가 나눠보고 싶은 이야기</a:t>
            </a:r>
            <a:endParaRPr lang="ko-KR" altLang="ko-K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ko-KR" sz="2000" dirty="0"/>
              <a:t>최근 </a:t>
            </a:r>
            <a:r>
              <a:rPr lang="ko-KR" altLang="ko-KR" sz="2000" dirty="0" err="1"/>
              <a:t>robotics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control</a:t>
            </a:r>
            <a:r>
              <a:rPr lang="ko-KR" altLang="ko-KR" sz="2000" dirty="0"/>
              <a:t> 연구의 </a:t>
            </a:r>
            <a:r>
              <a:rPr lang="ko-KR" altLang="ko-KR" sz="2000" dirty="0" err="1"/>
              <a:t>trend와</a:t>
            </a:r>
            <a:r>
              <a:rPr lang="ko-KR" altLang="ko-KR" sz="2000" dirty="0"/>
              <a:t> 방향 </a:t>
            </a:r>
            <a:endParaRPr lang="en-US" altLang="ko-K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ko-KR" sz="2000" dirty="0"/>
              <a:t>연구를 하면서 느낀 개인적인 생각과 문제의식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E210F-5699-D860-93E7-FDFC1EFF82DC}"/>
              </a:ext>
            </a:extLst>
          </p:cNvPr>
          <p:cNvSpPr txBox="1"/>
          <p:nvPr/>
        </p:nvSpPr>
        <p:spPr>
          <a:xfrm>
            <a:off x="276946" y="4316465"/>
            <a:ext cx="84371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000" b="1" dirty="0"/>
              <a:t>기대하는 점</a:t>
            </a:r>
            <a:endParaRPr lang="ko-KR" altLang="ko-K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ko-KR" sz="2000" dirty="0"/>
              <a:t>서로 다른 분야에서 문제를 정의하고 해결하는 방식 배우기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2000" dirty="0"/>
              <a:t> </a:t>
            </a:r>
            <a:r>
              <a:rPr lang="ko-KR" altLang="ko-KR" sz="2000" dirty="0"/>
              <a:t>내 분야를 다른 관점에서 바라보기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7576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734"/>
    </mc:Choice>
    <mc:Fallback>
      <p:transition spd="slow" advTm="2573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0DA5-5BEA-A4AD-3CDE-E7C990CE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817D690-F1EA-8190-AD07-3007C6CD5341}"/>
              </a:ext>
            </a:extLst>
          </p:cNvPr>
          <p:cNvSpPr txBox="1"/>
          <p:nvPr/>
        </p:nvSpPr>
        <p:spPr>
          <a:xfrm>
            <a:off x="559266" y="3105834"/>
            <a:ext cx="1107346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 dirty="0">
                <a:latin typeface="Arial"/>
                <a:ea typeface="+mn-lt"/>
                <a:cs typeface="Arial"/>
              </a:rPr>
              <a:t>Thank You !</a:t>
            </a:r>
            <a:endParaRPr lang="en-US" sz="2400" dirty="0">
              <a:latin typeface="Arial"/>
              <a:ea typeface="맑은 고딕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515F65-E145-0277-ED68-54658A5B9DA3}"/>
              </a:ext>
            </a:extLst>
          </p:cNvPr>
          <p:cNvSpPr/>
          <p:nvPr/>
        </p:nvSpPr>
        <p:spPr>
          <a:xfrm>
            <a:off x="34027" y="34027"/>
            <a:ext cx="158919" cy="71259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45CF63-42E5-665A-3471-02D56230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75626-C6C3-4F88-BD7F-05CDB218513C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9FD185F-C2BB-5112-A3B8-8DB020D5A92F}"/>
              </a:ext>
            </a:extLst>
          </p:cNvPr>
          <p:cNvGrpSpPr/>
          <p:nvPr/>
        </p:nvGrpSpPr>
        <p:grpSpPr>
          <a:xfrm>
            <a:off x="8268818" y="6046989"/>
            <a:ext cx="3780413" cy="694883"/>
            <a:chOff x="8268818" y="6046989"/>
            <a:chExt cx="3780413" cy="69488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D66DE5F-9594-6662-C32A-86A367139C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7607" b="2059"/>
            <a:stretch/>
          </p:blipFill>
          <p:spPr>
            <a:xfrm>
              <a:off x="10440537" y="6046989"/>
              <a:ext cx="1608694" cy="69488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E889548-5B4C-4C8C-84E9-C62785FCB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68818" y="6166550"/>
              <a:ext cx="2096728" cy="5753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10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1"/>
    </mc:Choice>
    <mc:Fallback xmlns="">
      <p:transition spd="slow" advTm="3531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</TotalTime>
  <Words>812</Words>
  <Application>Microsoft Office PowerPoint</Application>
  <PresentationFormat>와이드스크린</PresentationFormat>
  <Paragraphs>149</Paragraphs>
  <Slides>12</Slides>
  <Notes>12</Notes>
  <HiddenSlides>0</HiddenSlides>
  <MMClips>3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승빈 오</cp:lastModifiedBy>
  <cp:revision>32</cp:revision>
  <dcterms:created xsi:type="dcterms:W3CDTF">2026-06-19T08:31:32Z</dcterms:created>
  <dcterms:modified xsi:type="dcterms:W3CDTF">2026-06-28T01:34:15Z</dcterms:modified>
</cp:coreProperties>
</file>