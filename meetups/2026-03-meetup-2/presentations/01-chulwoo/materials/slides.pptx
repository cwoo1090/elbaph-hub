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9144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21212"/>
                </a:solidFill>
                <a:latin typeface="Arial"/>
              </a:rPr>
              <a:t>사이드 프로젝트 현황</a:t>
            </a:r>
          </a:p>
          <a:p>
            <a:pPr algn="l"/>
            <a:r>
              <a:rPr sz="4000" b="1">
                <a:solidFill>
                  <a:srgbClr val="121212"/>
                </a:solidFill>
                <a:latin typeface="Arial"/>
              </a:rPr>
              <a:t>+</a:t>
            </a:r>
          </a:p>
          <a:p>
            <a:pPr algn="l"/>
            <a:r>
              <a:rPr sz="4000" b="1">
                <a:solidFill>
                  <a:srgbClr val="121212"/>
                </a:solidFill>
                <a:latin typeface="Arial"/>
              </a:rPr>
              <a:t>이 시대에 대한 고민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60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  <a:latin typeface="Arial"/>
              </a:rPr>
              <a:t>feat. Thread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2743200" cy="16459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Arial"/>
              </a:rPr>
              <a:t>철우  ·  2026.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01  /  사이드 프로젝트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Arial"/>
              </a:rPr>
              <a:t>Draft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5607"/>
            <a:ext cx="11091672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2560320" cy="25603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Arial"/>
              </a:rPr>
              <a:t>총 유저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21212"/>
                </a:solidFill>
                <a:latin typeface="Arial"/>
              </a:rPr>
              <a:t>37+명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Supabase 기준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1691640"/>
            <a:ext cx="2560320" cy="25603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Arial"/>
              </a:rPr>
              <a:t>유료 구독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2402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21212"/>
                </a:solidFill>
                <a:latin typeface="Arial"/>
              </a:rPr>
              <a:t>1명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LemonSqueezy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1691640"/>
            <a:ext cx="2560320" cy="25603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Arial"/>
              </a:rPr>
              <a:t>완료 세션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2402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21212"/>
                </a:solidFill>
                <a:latin typeface="Arial"/>
              </a:rPr>
              <a:t>58회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status = completed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72016" y="1691640"/>
            <a:ext cx="2560320" cy="25603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2016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Arial"/>
              </a:rPr>
              <a:t>광고 지출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22402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21212"/>
                </a:solidFill>
                <a:latin typeface="Arial"/>
              </a:rPr>
              <a:t>₩109k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Meta (3/5~)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57600"/>
            <a:ext cx="11091672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94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CPC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33087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₩255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817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Meta 링크 클릭당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3794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CTA 전환당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4133087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₩617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46817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OnboardingCTA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3794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Trial CAC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4133087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53E3E"/>
                </a:solidFill>
                <a:latin typeface="Arial"/>
              </a:rPr>
              <a:t>₩10,914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46817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광고비 / trial 10명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2016" y="3794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유료 CAC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2016" y="4133087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53E3E"/>
                </a:solidFill>
                <a:latin typeface="Arial"/>
              </a:rPr>
              <a:t>₩109,148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2016" y="46817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광고비 / 구독 1명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Arial"/>
              </a:rPr>
              <a:t>* 데이터 기간: 2026-02-10 ~ 2026-03-23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01  /  사이드 프로젝트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Arial"/>
              </a:rPr>
              <a:t>전환 퍼널  —  1.96% overall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5607"/>
            <a:ext cx="11091672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295019" cy="3474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2950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510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33272"/>
            <a:ext cx="12950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Arial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19" y="5276088"/>
            <a:ext cx="13864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Arial"/>
              </a:rPr>
              <a:t>Onboarding</a:t>
            </a:r>
          </a:p>
          <a:p>
            <a:pPr algn="ctr"/>
            <a:r>
              <a:rPr sz="900" b="0">
                <a:solidFill>
                  <a:srgbClr val="444444"/>
                </a:solidFill>
                <a:latin typeface="Arial"/>
              </a:rPr>
              <a:t>Entered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935099" y="3926361"/>
            <a:ext cx="1295019" cy="123999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5099" y="3542313"/>
            <a:ext cx="12950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5099" y="3267993"/>
            <a:ext cx="12950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53E3E"/>
                </a:solidFill>
                <a:latin typeface="Arial"/>
              </a:rPr>
              <a:t>36%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9379" y="5276088"/>
            <a:ext cx="13864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Arial"/>
              </a:rPr>
              <a:t>Onboarding</a:t>
            </a:r>
          </a:p>
          <a:p>
            <a:pPr algn="ctr"/>
            <a:r>
              <a:rPr sz="900" b="0">
                <a:solidFill>
                  <a:srgbClr val="444444"/>
                </a:solidFill>
                <a:latin typeface="Arial"/>
              </a:rPr>
              <a:t>CTA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1558" y="3926361"/>
            <a:ext cx="1295019" cy="123999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21558" y="3542313"/>
            <a:ext cx="12950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1558" y="3267993"/>
            <a:ext cx="12950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Arial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5838" y="5276088"/>
            <a:ext cx="13864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Arial"/>
              </a:rPr>
              <a:t>Draft</a:t>
            </a:r>
          </a:p>
          <a:p>
            <a:pPr algn="ctr"/>
            <a:r>
              <a:rPr sz="900" b="0">
                <a:solidFill>
                  <a:srgbClr val="444444"/>
                </a:solidFill>
                <a:latin typeface="Arial"/>
              </a:rPr>
              <a:t>Started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8017" y="4607679"/>
            <a:ext cx="1295019" cy="5586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8017" y="4223631"/>
            <a:ext cx="12950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82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8017" y="3949311"/>
            <a:ext cx="12950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Arial"/>
              </a:rPr>
              <a:t>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2297" y="5276088"/>
            <a:ext cx="13864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Arial"/>
              </a:rPr>
              <a:t>Draft</a:t>
            </a:r>
          </a:p>
          <a:p>
            <a:pPr algn="ctr"/>
            <a:r>
              <a:rPr sz="900" b="0">
                <a:solidFill>
                  <a:srgbClr val="444444"/>
                </a:solidFill>
                <a:latin typeface="Arial"/>
              </a:rPr>
              <a:t>Submitted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4476" y="4628119"/>
            <a:ext cx="1295019" cy="5382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4476" y="4244071"/>
            <a:ext cx="12950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4476" y="3969751"/>
            <a:ext cx="12950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Arial"/>
              </a:rPr>
              <a:t>96%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48756" y="5276088"/>
            <a:ext cx="13864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Arial"/>
              </a:rPr>
              <a:t>Edited</a:t>
            </a:r>
          </a:p>
          <a:p>
            <a:pPr algn="ctr"/>
            <a:r>
              <a:rPr sz="900" b="0">
                <a:solidFill>
                  <a:srgbClr val="444444"/>
                </a:solidFill>
                <a:latin typeface="Arial"/>
              </a:rPr>
              <a:t>Draft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80935" y="4703063"/>
            <a:ext cx="1295019" cy="46329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80935" y="4319015"/>
            <a:ext cx="12950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0935" y="4044695"/>
            <a:ext cx="12950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Arial"/>
              </a:rPr>
              <a:t>86%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5215" y="5276088"/>
            <a:ext cx="13864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Arial"/>
              </a:rPr>
              <a:t>Final</a:t>
            </a:r>
          </a:p>
          <a:p>
            <a:pPr algn="ctr"/>
            <a:r>
              <a:rPr sz="900" b="0">
                <a:solidFill>
                  <a:srgbClr val="444444"/>
                </a:solidFill>
                <a:latin typeface="Arial"/>
              </a:rPr>
              <a:t>Writing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7394" y="5064162"/>
            <a:ext cx="1295019" cy="102197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7394" y="4680114"/>
            <a:ext cx="12950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7394" y="4405794"/>
            <a:ext cx="12950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53E3E"/>
                </a:solidFill>
                <a:latin typeface="Arial"/>
              </a:rPr>
              <a:t>22%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1674" y="5276088"/>
            <a:ext cx="13864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Arial"/>
              </a:rPr>
              <a:t>Complete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53853" y="5098228"/>
            <a:ext cx="1295019" cy="6813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3853" y="4714180"/>
            <a:ext cx="12950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3853" y="4439860"/>
            <a:ext cx="12950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Arial"/>
              </a:rPr>
              <a:t>67%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08133" y="5276088"/>
            <a:ext cx="13864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Arial"/>
              </a:rPr>
              <a:t>Trial /</a:t>
            </a:r>
          </a:p>
          <a:p>
            <a:pPr algn="ctr"/>
            <a:r>
              <a:rPr sz="900" b="0">
                <a:solidFill>
                  <a:srgbClr val="444444"/>
                </a:solidFill>
                <a:latin typeface="Arial"/>
              </a:rPr>
              <a:t>Paywall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89379" y="14813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3E3E"/>
                </a:solidFill>
                <a:latin typeface="Arial"/>
              </a:rPr>
              <a:t>▼ 64% 이탈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1674" y="14813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3E3E"/>
                </a:solidFill>
                <a:latin typeface="Arial"/>
              </a:rPr>
              <a:t>▼ 78% 이탈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Arial"/>
              </a:rPr>
              <a:t>Mixpanel · Sequential onboarding funnel · Mar 5–20, 2026  /  Meta 광고 177 OnboardingCTA ≈ Mixpanel 182 — 광고가 주요 유입 소스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01  /  사이드 프로젝트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Arial"/>
              </a:rPr>
              <a:t>유저 페르소나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5607"/>
            <a:ext cx="11091672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2697480" cy="25603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연구자·대학원생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Arial"/>
              </a:rPr>
              <a:t>3명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269748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6148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rial"/>
              </a:rPr>
              <a:t>뇌인지과학 학부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rial"/>
              </a:rPr>
              <a:t>CS 석사 (홍익대)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3931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rial"/>
              </a:rPr>
              <a:t>로봇/기계공학 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23944"/>
            <a:ext cx="269748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61104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FD5C5"/>
                </a:solidFill>
                <a:latin typeface="Arial"/>
              </a:rPr>
              <a:t>논문·국제 커뮤니케이션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6432" y="1691640"/>
            <a:ext cx="2697480" cy="25603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직장인·전문직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21284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Arial"/>
              </a:rPr>
              <a:t>4명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2606040"/>
            <a:ext cx="269748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276148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rial"/>
              </a:rPr>
              <a:t>중학교 영어교사 (EFL)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320040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rial"/>
              </a:rPr>
              <a:t>자산운용 매니저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363931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rial"/>
              </a:rPr>
              <a:t>임상시험 QA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407822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rial"/>
              </a:rPr>
              <a:t>오피스워커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56432" y="4562855"/>
            <a:ext cx="269748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6432" y="4700016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FD5C5"/>
                </a:solidFill>
                <a:latin typeface="Arial"/>
              </a:rPr>
              <a:t>업무 영어 향상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64224" y="1691640"/>
            <a:ext cx="2697480" cy="25603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대학생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221284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Arial"/>
              </a:rPr>
              <a:t>3명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4224" y="2606040"/>
            <a:ext cx="269748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276148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rial"/>
              </a:rPr>
              <a:t>졸업논문 목표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320040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rial"/>
              </a:rPr>
              <a:t>언어치료 전공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363931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rial"/>
              </a:rPr>
              <a:t>독일 대학원 유학 준비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64224" y="4123944"/>
            <a:ext cx="269748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261104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FD5C5"/>
                </a:solidFill>
                <a:latin typeface="Arial"/>
              </a:rPr>
              <a:t>유학·졸업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72016" y="1691640"/>
            <a:ext cx="2697480" cy="25603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72016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기타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72016" y="221284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Arial"/>
              </a:rPr>
              <a:t>4명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72016" y="2606040"/>
            <a:ext cx="269748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72016" y="276148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rial"/>
              </a:rPr>
              <a:t>취업 준비생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72016" y="320040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rial"/>
              </a:rPr>
              <a:t>TOEIC 대비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72016" y="363931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rial"/>
              </a:rPr>
              <a:t>미국 이민 예정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72016" y="407822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rial"/>
              </a:rPr>
              <a:t>일반 개선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72016" y="4562855"/>
            <a:ext cx="269748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72016" y="4700016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FD5C5"/>
                </a:solidFill>
                <a:latin typeface="Arial"/>
              </a:rPr>
              <a:t>각자 다른 목표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Arial"/>
              </a:rPr>
              <a:t>* 신규 유저 자기소개 (topic_variant='newuser') 기반 / 14명 분석 (테스트 계정 제외)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01  /  사이드 프로젝트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Arial"/>
              </a:rPr>
              <a:t>유일한 유료 구독자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5607"/>
            <a:ext cx="11091672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45720" cy="29260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Arial"/>
              </a:rPr>
              <a:t>"I teach English to middle school students,</a:t>
            </a:r>
          </a:p>
          <a:p>
            <a:pPr algn="l"/>
            <a:r>
              <a:rPr sz="1400" b="0">
                <a:solidFill>
                  <a:srgbClr val="444444"/>
                </a:solidFill>
                <a:latin typeface="Arial"/>
              </a:rPr>
              <a:t>but I feel I still need to improve my English.</a:t>
            </a:r>
          </a:p>
          <a:p>
            <a:pPr algn="l"/>
            <a:r>
              <a:rPr sz="1400" b="0">
                <a:solidFill>
                  <a:srgbClr val="444444"/>
                </a:solidFill>
                <a:latin typeface="Arial"/>
              </a:rPr>
              <a:t>In EFL environment, it is not easy to have</a:t>
            </a:r>
          </a:p>
          <a:p>
            <a:pPr algn="l"/>
            <a:r>
              <a:rPr sz="1400" b="0">
                <a:solidFill>
                  <a:srgbClr val="444444"/>
                </a:solidFill>
                <a:latin typeface="Arial"/>
              </a:rPr>
              <a:t>chances to produce language."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Arial"/>
              </a:rPr>
              <a:t>— 중학교 영어 교사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916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Arial"/>
              </a:rPr>
              <a:t>첫 세션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6916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  <a:latin typeface="Arial"/>
              </a:rPr>
              <a:t>2026-03-11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194560"/>
            <a:ext cx="521208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3500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Arial"/>
              </a:rPr>
              <a:t>마지막 세션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3500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  <a:latin typeface="Arial"/>
              </a:rPr>
              <a:t>2026-03-23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852928"/>
            <a:ext cx="521208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0083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Arial"/>
              </a:rPr>
              <a:t>총 세션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00837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  <a:latin typeface="Arial"/>
              </a:rPr>
              <a:t>8회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511296"/>
            <a:ext cx="521208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667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Arial"/>
              </a:rPr>
              <a:t>완료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66674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  <a:latin typeface="Arial"/>
              </a:rPr>
              <a:t>6회  (75%)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4169663"/>
            <a:ext cx="521208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2511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Arial"/>
              </a:rPr>
              <a:t>주요 토픽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3251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  <a:latin typeface="Arial"/>
              </a:rPr>
              <a:t>Daily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828032"/>
            <a:ext cx="521208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983479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Arial"/>
              </a:rPr>
              <a:t>구독 여부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98347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FD5C5"/>
                </a:solidFill>
                <a:latin typeface="Arial"/>
              </a:rPr>
              <a:t>유료 전환 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743200"/>
            <a:ext cx="3657600" cy="16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이 시대에 대한 고민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Arial"/>
              </a:rPr>
              <a:t>feat. Thread  @chul_chulchul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02  /  이 시대에 대한 고민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Arial"/>
              </a:rPr>
              <a:t>세 가지 관찰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5607"/>
            <a:ext cx="11091672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CCCCC"/>
                </a:solidFill>
                <a:latin typeface="Arial"/>
              </a:rPr>
              <a:t>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  <a:latin typeface="Arial"/>
              </a:rPr>
              <a:t>나를 포함한 쓰레드에 글을 쓰는 대부분의 사람들은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671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rial"/>
              </a:rPr>
              <a:t>본인의 관점, 취향을 파는 것일 테다.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62072"/>
            <a:ext cx="11091672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CCCCC"/>
                </a:solidFill>
                <a:latin typeface="Arial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  <a:latin typeface="Arial"/>
              </a:rPr>
              <a:t>모두가 바이브코딩과 Agent를 외치는 지금,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844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rial"/>
              </a:rPr>
              <a:t>창조와 실행에 드는 비용은 0으로 수렴해 간다.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79392"/>
            <a:ext cx="11091672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526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CCCCC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526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  <a:latin typeface="Arial"/>
              </a:rPr>
              <a:t>말로 세상을 창조한 창조주와 같은 능력이 주어진다면,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0017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rial"/>
              </a:rPr>
              <a:t>무엇이 중요해질까?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02  /  이 시대에 대한 고민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21212"/>
                </a:solidFill>
                <a:latin typeface="Arial"/>
              </a:rPr>
              <a:t>창조·실행 비용이 0으로 수렴한다면,</a:t>
            </a:r>
          </a:p>
          <a:p>
            <a:pPr algn="l"/>
            <a:r>
              <a:rPr sz="3400" b="1">
                <a:solidFill>
                  <a:srgbClr val="121212"/>
                </a:solidFill>
                <a:latin typeface="Arial"/>
              </a:rPr>
              <a:t>남는 것은 무엇인가?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11880"/>
            <a:ext cx="4572000" cy="16459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44444"/>
                </a:solidFill>
                <a:latin typeface="Arial"/>
              </a:rPr>
              <a:t>관점.  취향.  그리고 무엇을 만들지 아는 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63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Arial"/>
              </a:rPr>
              <a:t>쓰레드에서 관점을 파는 사람들이 많아지는 건</a:t>
            </a:r>
          </a:p>
          <a:p>
            <a:pPr algn="l"/>
            <a:r>
              <a:rPr sz="1400" b="0">
                <a:solidFill>
                  <a:srgbClr val="888888"/>
                </a:solidFill>
                <a:latin typeface="Arial"/>
              </a:rPr>
              <a:t>우연이 아닐 수 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02  /  이 시대에 대한 고민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Arial"/>
              </a:rPr>
              <a:t>그래서 나는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5607"/>
            <a:ext cx="11091672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212"/>
                </a:solidFill>
                <a:latin typeface="Arial"/>
              </a:rPr>
              <a:t>①  바이브코딩으로 Draft를 만들었다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67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Arial"/>
              </a:rPr>
              <a:t>   실행 비용이 낮아졌기 때문에 가능했다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91672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212"/>
                </a:solidFill>
                <a:latin typeface="Arial"/>
              </a:rPr>
              <a:t>②  유저들이 원하는 건 '영어 실력' 이전에 '표현할 수 있는 나'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38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Arial"/>
              </a:rPr>
              <a:t>   쓰는 사람이 되고 싶다는 욕망 — Draft는 그 입구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14800"/>
            <a:ext cx="11091672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212"/>
                </a:solidFill>
                <a:latin typeface="Arial"/>
              </a:rPr>
              <a:t>③  다음 고민은 CAC가 아니라 '왜 계속 쓰는가'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1032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Arial"/>
              </a:rPr>
              <a:t>   유일한 유료 유저가 영어 교사인 것은 힌트다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