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502920"/>
            <a:ext cx="5852160" cy="5852160"/>
          </a:xfrm>
          <a:prstGeom prst="ellipse">
            <a:avLst/>
          </a:prstGeom>
          <a:ln w="19050">
            <a:solidFill>
              <a:srgbClr val="0E9A8C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1143000"/>
            <a:ext cx="4572000" cy="4572000"/>
          </a:xfrm>
          <a:prstGeom prst="ellipse">
            <a:avLst/>
          </a:prstGeom>
          <a:ln w="19050">
            <a:solidFill>
              <a:srgbClr val="27C2B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1783080"/>
            <a:ext cx="3291840" cy="3291840"/>
          </a:xfrm>
          <a:prstGeom prst="ellipse">
            <a:avLst/>
          </a:prstGeom>
          <a:ln w="19050">
            <a:solidFill>
              <a:srgbClr val="E8A23D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2423160"/>
            <a:ext cx="2011680" cy="2011680"/>
          </a:xfrm>
          <a:prstGeom prst="ellipse">
            <a:avLst/>
          </a:prstGeom>
          <a:ln w="19050">
            <a:solidFill>
              <a:srgbClr val="E0556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98280" y="3017520"/>
            <a:ext cx="822960" cy="822960"/>
          </a:xfrm>
          <a:prstGeom prst="ellipse">
            <a:avLst/>
          </a:prstGeom>
          <a:solidFill>
            <a:srgbClr val="27C2B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148840"/>
            <a:ext cx="1554480" cy="82296"/>
          </a:xfrm>
          <a:prstGeom prst="rect">
            <a:avLst/>
          </a:prstGeom>
          <a:solidFill>
            <a:srgbClr val="27C2B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7C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BIOLOGY OF AGING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Aging, Longevity &amp;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Programmable Cell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7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hallmarks of aging and immune profiling to virtual cells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7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biological foundation models — a field-level briefing.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sj_lee</a:t>
            </a:r>
            <a:pPr indent="0" marL="0">
              <a:buNone/>
            </a:pPr>
            <a:r>
              <a:rPr lang="en-US" sz="12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2026-05-31   ·   Sources cited on every slide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A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questions, one connected story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371600" cy="0"/>
          </a:xfrm>
          <a:prstGeom prst="line">
            <a:avLst/>
          </a:prstGeom>
          <a:noFill/>
          <a:ln w="38100">
            <a:solidFill>
              <a:srgbClr val="0E9A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2212848" cy="338328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43584" y="2331720"/>
            <a:ext cx="822960" cy="822960"/>
          </a:xfrm>
          <a:prstGeom prst="ellipse">
            <a:avLst/>
          </a:prstGeom>
          <a:solidFill>
            <a:srgbClr val="0E9A8C"/>
          </a:solidFill>
          <a:ln/>
        </p:spPr>
      </p:sp>
      <p:sp>
        <p:nvSpPr>
          <p:cNvPr id="8" name="Text 6"/>
          <p:cNvSpPr/>
          <p:nvPr/>
        </p:nvSpPr>
        <p:spPr>
          <a:xfrm>
            <a:off x="1243584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13232" y="342900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aging?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420624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scientific consensus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25496" y="2011680"/>
            <a:ext cx="2212848" cy="338328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2331720"/>
            <a:ext cx="822960" cy="822960"/>
          </a:xfrm>
          <a:prstGeom prst="ellipse">
            <a:avLst/>
          </a:prstGeom>
          <a:solidFill>
            <a:srgbClr val="27C2B0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90088" y="342900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we measure it?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90088" y="420624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Hallmarks &amp; biological clocks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02352" y="2011680"/>
            <a:ext cx="2212848" cy="338328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97296" y="2331720"/>
            <a:ext cx="822960" cy="822960"/>
          </a:xfrm>
          <a:prstGeom prst="ellipse">
            <a:avLst/>
          </a:prstGeom>
          <a:solidFill>
            <a:srgbClr val="E8A23D"/>
          </a:solidFill>
          <a:ln/>
        </p:spPr>
      </p:sp>
      <p:sp>
        <p:nvSpPr>
          <p:cNvPr id="18" name="Text 16"/>
          <p:cNvSpPr/>
          <p:nvPr/>
        </p:nvSpPr>
        <p:spPr>
          <a:xfrm>
            <a:off x="5797296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266944" y="342900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we slow it?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66944" y="420624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 interventions &amp; trials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79208" y="2011680"/>
            <a:ext cx="2212848" cy="338328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74152" y="2331720"/>
            <a:ext cx="822960" cy="822960"/>
          </a:xfrm>
          <a:prstGeom prst="ellipse">
            <a:avLst/>
          </a:prstGeom>
          <a:solidFill>
            <a:srgbClr val="E0556B"/>
          </a:solidFill>
          <a:ln/>
        </p:spPr>
      </p:sp>
      <p:sp>
        <p:nvSpPr>
          <p:cNvPr id="23" name="Text 21"/>
          <p:cNvSpPr/>
          <p:nvPr/>
        </p:nvSpPr>
        <p:spPr>
          <a:xfrm>
            <a:off x="8074152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543800" y="342900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Immune profiling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43800" y="420624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immune system as a readout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56064" y="2011680"/>
            <a:ext cx="2212848" cy="338328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351008" y="2331720"/>
            <a:ext cx="822960" cy="822960"/>
          </a:xfrm>
          <a:prstGeom prst="ellipse">
            <a:avLst/>
          </a:prstGeom>
          <a:solidFill>
            <a:srgbClr val="12304A"/>
          </a:solidFill>
          <a:ln/>
        </p:spPr>
      </p:sp>
      <p:sp>
        <p:nvSpPr>
          <p:cNvPr id="28" name="Text 26"/>
          <p:cNvSpPr/>
          <p:nvPr/>
        </p:nvSpPr>
        <p:spPr>
          <a:xfrm>
            <a:off x="10351008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820656" y="342900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 life itself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820656" y="420624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cells &amp; foundation models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thread: aging is multi-dimensional — so are the tools we now use to read and rewrite it.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A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AGING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Aging is a process, not just the passage of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371600" cy="0"/>
          </a:xfrm>
          <a:prstGeom prst="line">
            <a:avLst/>
          </a:prstGeom>
          <a:noFill/>
          <a:ln w="38100">
            <a:solidFill>
              <a:srgbClr val="0E9A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0B1E2D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7C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definition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progressive accumulation of molecular, cellular and tissue damage that erodes physiological reserve, homeostasis and resilience — raising the risk of disease, frailty and death.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influential lenses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24028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23774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Theory of Aging  (Sinclair)
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= progressive loss of youthful epigenetic information; partially reversible. A powerful hypothesis — not the consensus.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352044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3657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Hallmarks of Aging  (López-Otín et al.)
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mainstream framework: ~12 interconnected drivers acting as a network — epigenetic drift is one axis among many.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AF4F2"/>
          </a:solidFill>
          <a:ln w="12700">
            <a:solidFill>
              <a:srgbClr val="27C2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937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Clinicians' view: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mechanistic consensus — practice centers on frailty, intrinsic capacity and functional ability (WHO Healthy Ageing). Chronological age is an imperfect proxy.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López-Otín et al., Cell 2023, 186(2):243–278 · Yang et al. (Sinclair lab), Cell 2023, 186(2):305–326 · WHO, Decade of Healthy Ageing 2021–2030.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55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/ FUNCTIONAL AGING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medicine sees aging: function over mechanism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371600" cy="0"/>
          </a:xfrm>
          <a:prstGeom prst="line">
            <a:avLst/>
          </a:prstGeom>
          <a:noFill/>
          <a:ln w="38100">
            <a:solidFill>
              <a:srgbClr val="E055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7276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FBEDEF"/>
          </a:solidFill>
          <a:ln w="12700">
            <a:solidFill>
              <a:srgbClr val="E055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2763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0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aging  =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age-related erosion of physiological reserve and intrinsic capacity that reduces an older person's functional ability and raises vulnerability to stressors — clinically captured as frailty.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50592"/>
          <a:ext cx="69037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606040"/>
                <a:gridCol w="2606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Biological aging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Medical / functional aging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55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asks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4C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“How damaged are the cells?”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4C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can this patient still do?”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measured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4C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Molecular / cellular damage &amp; dysregulation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4C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Reserve, function &amp; frailty / vulnerability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tools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4C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Epigenetic clocks, hallmark biomarkers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4C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Frailty phenotype/index, CFS, gait speed, ICOPE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Intervention 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4C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Underlying damage &amp; aging mechanisms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4C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Function, reserve, frailty, adverse outcomes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use today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4C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research — not yet routine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C4C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of care in geriatric assessment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680960" y="2395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MANAGEMENT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99248" y="2761488"/>
            <a:ext cx="146304" cy="146304"/>
          </a:xfrm>
          <a:prstGeom prst="ellipse">
            <a:avLst/>
          </a:prstGeom>
          <a:solidFill>
            <a:srgbClr val="E0556B"/>
          </a:solidFill>
          <a:ln/>
        </p:spPr>
      </p:sp>
      <p:sp>
        <p:nvSpPr>
          <p:cNvPr id="11" name="Text 8"/>
          <p:cNvSpPr/>
          <p:nvPr/>
        </p:nvSpPr>
        <p:spPr>
          <a:xfrm>
            <a:off x="7936992" y="268833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Geriatric Assessment  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multidomain review → individualized care plan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99248" y="3310128"/>
            <a:ext cx="146304" cy="146304"/>
          </a:xfrm>
          <a:prstGeom prst="ellipse">
            <a:avLst/>
          </a:prstGeom>
          <a:solidFill>
            <a:srgbClr val="E0556B"/>
          </a:solidFill>
          <a:ln/>
        </p:spPr>
      </p:sp>
      <p:sp>
        <p:nvSpPr>
          <p:cNvPr id="13" name="Text 10"/>
          <p:cNvSpPr/>
          <p:nvPr/>
        </p:nvSpPr>
        <p:spPr>
          <a:xfrm>
            <a:off x="7936992" y="323697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&amp; multicomponent exercise  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counters sarcopenia, improves mobility &amp; balance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99248" y="3858768"/>
            <a:ext cx="146304" cy="146304"/>
          </a:xfrm>
          <a:prstGeom prst="ellipse">
            <a:avLst/>
          </a:prstGeom>
          <a:solidFill>
            <a:srgbClr val="E0556B"/>
          </a:solidFill>
          <a:ln/>
        </p:spPr>
      </p:sp>
      <p:sp>
        <p:nvSpPr>
          <p:cNvPr id="15" name="Text 12"/>
          <p:cNvSpPr/>
          <p:nvPr/>
        </p:nvSpPr>
        <p:spPr>
          <a:xfrm>
            <a:off x="7936992" y="378561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&amp; nutrition optimization  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treats malnutrition, preserves muscle mass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699248" y="4407408"/>
            <a:ext cx="146304" cy="146304"/>
          </a:xfrm>
          <a:prstGeom prst="ellipse">
            <a:avLst/>
          </a:prstGeom>
          <a:solidFill>
            <a:srgbClr val="E0556B"/>
          </a:solidFill>
          <a:ln/>
        </p:spPr>
      </p:sp>
      <p:sp>
        <p:nvSpPr>
          <p:cNvPr id="17" name="Text 14"/>
          <p:cNvSpPr/>
          <p:nvPr/>
        </p:nvSpPr>
        <p:spPr>
          <a:xfrm>
            <a:off x="7936992" y="433425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Deprescribing / polypharmacy review  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stops inappropriate drugs, cuts adverse events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99248" y="4956048"/>
            <a:ext cx="146304" cy="146304"/>
          </a:xfrm>
          <a:prstGeom prst="ellipse">
            <a:avLst/>
          </a:prstGeom>
          <a:solidFill>
            <a:srgbClr val="E0556B"/>
          </a:solidFill>
          <a:ln/>
        </p:spPr>
      </p:sp>
      <p:sp>
        <p:nvSpPr>
          <p:cNvPr id="19" name="Text 16"/>
          <p:cNvSpPr/>
          <p:nvPr/>
        </p:nvSpPr>
        <p:spPr>
          <a:xfrm>
            <a:off x="7936992" y="488289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Fall-prevention programs  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multifactorial risk assessment + exercise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99248" y="5504688"/>
            <a:ext cx="146304" cy="146304"/>
          </a:xfrm>
          <a:prstGeom prst="ellipse">
            <a:avLst/>
          </a:prstGeom>
          <a:solidFill>
            <a:srgbClr val="E0556B"/>
          </a:solidFill>
          <a:ln/>
        </p:spPr>
      </p:sp>
      <p:sp>
        <p:nvSpPr>
          <p:cNvPr id="21" name="Text 18"/>
          <p:cNvSpPr/>
          <p:nvPr/>
        </p:nvSpPr>
        <p:spPr>
          <a:xfrm>
            <a:off x="7936992" y="543153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ICOPE intrinsic-capacity care  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screen &amp; manage 5 capacity domains in primary care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0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clocks describe the mechanism of aging; clinical medicine measures and acts on function, reserve and the outcomes patients actually live with.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 et al., J Gerontol A 2001;56:M146 · Rockwood et al. (CFS), CMAJ 2005;173:489 · Cesari et al., J Gerontol A 2018;73:1653 · WHO ICOPE 2017 &amp; Decade of Healthy Ageing 2021–2030.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C2B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7C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12 Hallmarks of Aging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371600" cy="0"/>
          </a:xfrm>
          <a:prstGeom prst="line">
            <a:avLst/>
          </a:prstGeom>
          <a:noFill/>
          <a:ln w="38100">
            <a:solidFill>
              <a:srgbClr val="27C2B0"/>
            </a:solidFill>
            <a:prstDash val="solid"/>
          </a:ln>
        </p:spPr>
      </p:sp>
      <p:pic>
        <p:nvPicPr>
          <p:cNvPr id="6" name="Image 0" descr="figures/hallmarks_of_aging_af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3657600" cy="34834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31222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Hallmarks of Aging — AFAR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17720" y="1783080"/>
            <a:ext cx="91440" cy="1746504"/>
          </a:xfrm>
          <a:prstGeom prst="rect">
            <a:avLst/>
          </a:prstGeom>
          <a:solidFill>
            <a:srgbClr val="E0556B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17830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 ·  the damage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64608" y="2176272"/>
            <a:ext cx="146304" cy="146304"/>
          </a:xfrm>
          <a:prstGeom prst="ellipse">
            <a:avLst/>
          </a:prstGeom>
          <a:solidFill>
            <a:srgbClr val="E0556B"/>
          </a:solidFill>
          <a:ln/>
        </p:spPr>
      </p:sp>
      <p:sp>
        <p:nvSpPr>
          <p:cNvPr id="11" name="Text 8"/>
          <p:cNvSpPr/>
          <p:nvPr/>
        </p:nvSpPr>
        <p:spPr>
          <a:xfrm>
            <a:off x="5102352" y="2103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instability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864608" y="2441448"/>
            <a:ext cx="146304" cy="146304"/>
          </a:xfrm>
          <a:prstGeom prst="ellipse">
            <a:avLst/>
          </a:prstGeom>
          <a:solidFill>
            <a:srgbClr val="E0556B"/>
          </a:solidFill>
          <a:ln/>
        </p:spPr>
      </p:sp>
      <p:sp>
        <p:nvSpPr>
          <p:cNvPr id="13" name="Text 10"/>
          <p:cNvSpPr/>
          <p:nvPr/>
        </p:nvSpPr>
        <p:spPr>
          <a:xfrm>
            <a:off x="5102352" y="23682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Telomere attrition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864608" y="2706624"/>
            <a:ext cx="146304" cy="146304"/>
          </a:xfrm>
          <a:prstGeom prst="ellipse">
            <a:avLst/>
          </a:prstGeom>
          <a:solidFill>
            <a:srgbClr val="E0556B"/>
          </a:solidFill>
          <a:ln/>
        </p:spPr>
      </p:sp>
      <p:sp>
        <p:nvSpPr>
          <p:cNvPr id="15" name="Text 12"/>
          <p:cNvSpPr/>
          <p:nvPr/>
        </p:nvSpPr>
        <p:spPr>
          <a:xfrm>
            <a:off x="5102352" y="2633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Epigenetic alterations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864608" y="2971800"/>
            <a:ext cx="146304" cy="146304"/>
          </a:xfrm>
          <a:prstGeom prst="ellipse">
            <a:avLst/>
          </a:prstGeom>
          <a:solidFill>
            <a:srgbClr val="E0556B"/>
          </a:solidFill>
          <a:ln/>
        </p:spPr>
      </p:sp>
      <p:sp>
        <p:nvSpPr>
          <p:cNvPr id="17" name="Text 14"/>
          <p:cNvSpPr/>
          <p:nvPr/>
        </p:nvSpPr>
        <p:spPr>
          <a:xfrm>
            <a:off x="5102352" y="2898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proteostasis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864608" y="3236976"/>
            <a:ext cx="146304" cy="146304"/>
          </a:xfrm>
          <a:prstGeom prst="ellipse">
            <a:avLst/>
          </a:prstGeom>
          <a:solidFill>
            <a:srgbClr val="E0556B"/>
          </a:solidFill>
          <a:ln/>
        </p:spPr>
      </p:sp>
      <p:sp>
        <p:nvSpPr>
          <p:cNvPr id="19" name="Text 16"/>
          <p:cNvSpPr/>
          <p:nvPr/>
        </p:nvSpPr>
        <p:spPr>
          <a:xfrm>
            <a:off x="5102352" y="31638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macroautophagy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617720" y="3621024"/>
            <a:ext cx="91440" cy="1216152"/>
          </a:xfrm>
          <a:prstGeom prst="rect">
            <a:avLst/>
          </a:prstGeom>
          <a:solidFill>
            <a:srgbClr val="E8A23D"/>
          </a:solidFill>
          <a:ln/>
        </p:spPr>
      </p:sp>
      <p:sp>
        <p:nvSpPr>
          <p:cNvPr id="21" name="Text 18"/>
          <p:cNvSpPr/>
          <p:nvPr/>
        </p:nvSpPr>
        <p:spPr>
          <a:xfrm>
            <a:off x="4846320" y="362102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ANTAGONISTIC  ·  the response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864608" y="4014216"/>
            <a:ext cx="146304" cy="146304"/>
          </a:xfrm>
          <a:prstGeom prst="ellipse">
            <a:avLst/>
          </a:prstGeom>
          <a:solidFill>
            <a:srgbClr val="E8A23D"/>
          </a:solidFill>
          <a:ln/>
        </p:spPr>
      </p:sp>
      <p:sp>
        <p:nvSpPr>
          <p:cNvPr id="23" name="Text 20"/>
          <p:cNvSpPr/>
          <p:nvPr/>
        </p:nvSpPr>
        <p:spPr>
          <a:xfrm>
            <a:off x="5102352" y="39410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Deregulated nutrient sensing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864608" y="4279392"/>
            <a:ext cx="146304" cy="146304"/>
          </a:xfrm>
          <a:prstGeom prst="ellipse">
            <a:avLst/>
          </a:prstGeom>
          <a:solidFill>
            <a:srgbClr val="E8A23D"/>
          </a:solidFill>
          <a:ln/>
        </p:spPr>
      </p:sp>
      <p:sp>
        <p:nvSpPr>
          <p:cNvPr id="25" name="Text 22"/>
          <p:cNvSpPr/>
          <p:nvPr/>
        </p:nvSpPr>
        <p:spPr>
          <a:xfrm>
            <a:off x="5102352" y="4206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Mitochondrial dysfunction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864608" y="4544568"/>
            <a:ext cx="146304" cy="146304"/>
          </a:xfrm>
          <a:prstGeom prst="ellipse">
            <a:avLst/>
          </a:prstGeom>
          <a:solidFill>
            <a:srgbClr val="E8A23D"/>
          </a:solidFill>
          <a:ln/>
        </p:spPr>
      </p:sp>
      <p:sp>
        <p:nvSpPr>
          <p:cNvPr id="27" name="Text 24"/>
          <p:cNvSpPr/>
          <p:nvPr/>
        </p:nvSpPr>
        <p:spPr>
          <a:xfrm>
            <a:off x="5102352" y="44714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senescence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4617720" y="4928616"/>
            <a:ext cx="91440" cy="1481328"/>
          </a:xfrm>
          <a:prstGeom prst="rect">
            <a:avLst/>
          </a:prstGeom>
          <a:solidFill>
            <a:srgbClr val="0E9A8C"/>
          </a:solidFill>
          <a:ln/>
        </p:spPr>
      </p:sp>
      <p:sp>
        <p:nvSpPr>
          <p:cNvPr id="29" name="Text 26"/>
          <p:cNvSpPr/>
          <p:nvPr/>
        </p:nvSpPr>
        <p:spPr>
          <a:xfrm>
            <a:off x="4846320" y="492861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INTEGRATIVE  ·  the consequence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864608" y="5321808"/>
            <a:ext cx="146304" cy="146304"/>
          </a:xfrm>
          <a:prstGeom prst="ellipse">
            <a:avLst/>
          </a:prstGeom>
          <a:solidFill>
            <a:srgbClr val="0E9A8C"/>
          </a:solidFill>
          <a:ln/>
        </p:spPr>
      </p:sp>
      <p:sp>
        <p:nvSpPr>
          <p:cNvPr id="31" name="Text 28"/>
          <p:cNvSpPr/>
          <p:nvPr/>
        </p:nvSpPr>
        <p:spPr>
          <a:xfrm>
            <a:off x="5102352" y="52486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cell exhaustion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4864608" y="5586984"/>
            <a:ext cx="146304" cy="146304"/>
          </a:xfrm>
          <a:prstGeom prst="ellipse">
            <a:avLst/>
          </a:prstGeom>
          <a:solidFill>
            <a:srgbClr val="0E9A8C"/>
          </a:solidFill>
          <a:ln/>
        </p:spPr>
      </p:sp>
      <p:sp>
        <p:nvSpPr>
          <p:cNvPr id="33" name="Text 30"/>
          <p:cNvSpPr/>
          <p:nvPr/>
        </p:nvSpPr>
        <p:spPr>
          <a:xfrm>
            <a:off x="5102352" y="55138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Altered intercellular comm.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4864608" y="5852160"/>
            <a:ext cx="146304" cy="146304"/>
          </a:xfrm>
          <a:prstGeom prst="ellipse">
            <a:avLst/>
          </a:prstGeom>
          <a:solidFill>
            <a:srgbClr val="0E9A8C"/>
          </a:solidFill>
          <a:ln/>
        </p:spPr>
      </p:sp>
      <p:sp>
        <p:nvSpPr>
          <p:cNvPr id="35" name="Text 32"/>
          <p:cNvSpPr/>
          <p:nvPr/>
        </p:nvSpPr>
        <p:spPr>
          <a:xfrm>
            <a:off x="5102352" y="5779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inflammation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4864608" y="6117336"/>
            <a:ext cx="146304" cy="146304"/>
          </a:xfrm>
          <a:prstGeom prst="ellipse">
            <a:avLst/>
          </a:prstGeom>
          <a:solidFill>
            <a:srgbClr val="0E9A8C"/>
          </a:solidFill>
          <a:ln/>
        </p:spPr>
      </p:sp>
      <p:sp>
        <p:nvSpPr>
          <p:cNvPr id="37" name="Text 34"/>
          <p:cNvSpPr/>
          <p:nvPr/>
        </p:nvSpPr>
        <p:spPr>
          <a:xfrm>
            <a:off x="5102352" y="60441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Dysbiosis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López-Otín, Blasco, Partridge, Serrano &amp; Kroemer. "Hallmarks of aging: An expanding universe." Cell 2023, 186(2):243–278. Figure: American Federation for Aging Research (AFAR).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2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CLOCK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biological age: epigenetic clocks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371600" cy="0"/>
          </a:xfrm>
          <a:prstGeom prst="line">
            <a:avLst/>
          </a:prstGeom>
          <a:noFill/>
          <a:ln w="38100">
            <a:solidFill>
              <a:srgbClr val="E8A2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4884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48840"/>
            <a:ext cx="3108960" cy="109728"/>
          </a:xfrm>
          <a:prstGeom prst="rect">
            <a:avLst/>
          </a:prstGeom>
          <a:solidFill>
            <a:srgbClr val="0E9A8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048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DNA methylation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8620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Genome-wide CpG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methylation pattern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58768" y="24688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4526280" y="214884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2148840"/>
            <a:ext cx="3108960" cy="109728"/>
          </a:xfrm>
          <a:prstGeom prst="rect">
            <a:avLst/>
          </a:prstGeom>
          <a:solidFill>
            <a:srgbClr val="E8A23D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4048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clock model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09160" y="28620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Penalized regression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methylation sites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44968" y="24688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8412480" y="214884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2148840"/>
            <a:ext cx="3108960" cy="109728"/>
          </a:xfrm>
          <a:prstGeom prst="rect">
            <a:avLst/>
          </a:prstGeom>
          <a:solidFill>
            <a:srgbClr val="E0556B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0" y="24048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Biological age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95360" y="28620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healthspan,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&amp; mortality risk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4206240"/>
            <a:ext cx="201168" cy="201168"/>
          </a:xfrm>
          <a:prstGeom prst="ellipse">
            <a:avLst/>
          </a:prstGeom>
          <a:solidFill>
            <a:srgbClr val="E8A23D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4142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1st-gen vs 2nd-gen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454456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Clocks trained on mortality/phenotype (PhenoAge, GrimAge, DunedinPACE) beat pure age-predictors for disease.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70832" y="39776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206240"/>
            <a:ext cx="201168" cy="201168"/>
          </a:xfrm>
          <a:prstGeom prst="ellipse">
            <a:avLst/>
          </a:prstGeom>
          <a:solidFill>
            <a:srgbClr val="0E9A8C"/>
          </a:solidFill>
          <a:ln/>
        </p:spPr>
      </p:sp>
      <p:sp>
        <p:nvSpPr>
          <p:cNvPr id="26" name="Text 24"/>
          <p:cNvSpPr/>
          <p:nvPr/>
        </p:nvSpPr>
        <p:spPr>
          <a:xfrm>
            <a:off x="4873752" y="4142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benchmark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99432" y="454456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14 clocks &amp; 174 incident diseases, second-generation clocks most consistently track disease risk.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01584" y="39776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02752" y="4206240"/>
            <a:ext cx="201168" cy="201168"/>
          </a:xfrm>
          <a:prstGeom prst="ellipse">
            <a:avLst/>
          </a:prstGeom>
          <a:solidFill>
            <a:srgbClr val="E0556B"/>
          </a:solidFill>
          <a:ln/>
        </p:spPr>
      </p:sp>
      <p:sp>
        <p:nvSpPr>
          <p:cNvPr id="30" name="Text 28"/>
          <p:cNvSpPr/>
          <p:nvPr/>
        </p:nvSpPr>
        <p:spPr>
          <a:xfrm>
            <a:off x="8604504" y="4142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Caveat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30184" y="454456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clock is a validated clinical test of "your true aging rate" — interpret with caution.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Mavrommatis, Belsky, Ying, Moqri … Marioni. "An unbiased comparison of 14 epigenetic clocks in relation to 174 incident disease outcomes." Nature Communications 2025 (10.1038/s41467-025-66106-y).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55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GEROSCIENCE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we slow aging? The intervention landscape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371600" cy="0"/>
          </a:xfrm>
          <a:prstGeom prst="line">
            <a:avLst/>
          </a:prstGeom>
          <a:noFill/>
          <a:ln w="38100">
            <a:solidFill>
              <a:srgbClr val="E055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Geroscience hypothesis: target shared aging biology to delay many age-related diseases at once.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057400"/>
            <a:ext cx="91440" cy="1417320"/>
          </a:xfrm>
          <a:prstGeom prst="rect">
            <a:avLst/>
          </a:prstGeom>
          <a:solidFill>
            <a:srgbClr val="0E9A8C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20370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Lifestyle &amp; public health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2953512" y="2221992"/>
            <a:ext cx="1078992" cy="274320"/>
          </a:xfrm>
          <a:prstGeom prst="roundRect">
            <a:avLst>
              <a:gd name="adj" fmla="val 50000"/>
            </a:avLst>
          </a:prstGeom>
          <a:solidFill>
            <a:srgbClr val="0E9A8C"/>
          </a:solidFill>
          <a:ln/>
        </p:spPr>
      </p:sp>
      <p:sp>
        <p:nvSpPr>
          <p:cNvPr id="11" name="Text 9"/>
          <p:cNvSpPr/>
          <p:nvPr/>
        </p:nvSpPr>
        <p:spPr>
          <a:xfrm>
            <a:off x="2953512" y="222199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" y="280720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Exercise, nutrition, sleep, sanitation, vaccines — by far the largest real-world gains.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25112" y="20574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25112" y="2057400"/>
            <a:ext cx="91440" cy="1417320"/>
          </a:xfrm>
          <a:prstGeom prst="rect">
            <a:avLst/>
          </a:prstGeom>
          <a:solidFill>
            <a:srgbClr val="E8A23D"/>
          </a:solidFill>
          <a:ln/>
        </p:spPr>
      </p:sp>
      <p:sp>
        <p:nvSpPr>
          <p:cNvPr id="15" name="Text 13"/>
          <p:cNvSpPr/>
          <p:nvPr/>
        </p:nvSpPr>
        <p:spPr>
          <a:xfrm>
            <a:off x="4581144" y="220370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Caloric restriction / mimetics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729984" y="2221992"/>
            <a:ext cx="1078992" cy="274320"/>
          </a:xfrm>
          <a:prstGeom prst="roundRect">
            <a:avLst>
              <a:gd name="adj" fmla="val 50000"/>
            </a:avLst>
          </a:prstGeom>
          <a:solidFill>
            <a:srgbClr val="E8A23D"/>
          </a:solidFill>
          <a:ln/>
        </p:spPr>
      </p:sp>
      <p:sp>
        <p:nvSpPr>
          <p:cNvPr id="17" name="Text 15"/>
          <p:cNvSpPr/>
          <p:nvPr/>
        </p:nvSpPr>
        <p:spPr>
          <a:xfrm>
            <a:off x="6729984" y="222199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ongoing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81144" y="280720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CR, fasting; rapamycin &amp; metformin fool nutrient-sensing pathways.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01584" y="20574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01584" y="2057400"/>
            <a:ext cx="91440" cy="1417320"/>
          </a:xfrm>
          <a:prstGeom prst="rect">
            <a:avLst/>
          </a:prstGeom>
          <a:solidFill>
            <a:srgbClr val="E0556B"/>
          </a:solidFill>
          <a:ln/>
        </p:spPr>
      </p:sp>
      <p:sp>
        <p:nvSpPr>
          <p:cNvPr id="21" name="Text 19"/>
          <p:cNvSpPr/>
          <p:nvPr/>
        </p:nvSpPr>
        <p:spPr>
          <a:xfrm>
            <a:off x="8357616" y="220370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Senolytics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10506456" y="2221992"/>
            <a:ext cx="1078992" cy="274320"/>
          </a:xfrm>
          <a:prstGeom prst="roundRect">
            <a:avLst>
              <a:gd name="adj" fmla="val 50000"/>
            </a:avLst>
          </a:prstGeom>
          <a:solidFill>
            <a:srgbClr val="E0556B"/>
          </a:solidFill>
          <a:ln/>
        </p:spPr>
      </p:sp>
      <p:sp>
        <p:nvSpPr>
          <p:cNvPr id="23" name="Text 21"/>
          <p:cNvSpPr/>
          <p:nvPr/>
        </p:nvSpPr>
        <p:spPr>
          <a:xfrm>
            <a:off x="10506456" y="222199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human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57616" y="280720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Dasatinib+Quercetin, fisetin — clear and reduce senescent-cell burden.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63931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3639312"/>
            <a:ext cx="91440" cy="1417320"/>
          </a:xfrm>
          <a:prstGeom prst="rect">
            <a:avLst/>
          </a:prstGeom>
          <a:solidFill>
            <a:srgbClr val="0E9A8C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378561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NAD+ / metabolic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2953512" y="3803904"/>
            <a:ext cx="1078992" cy="274320"/>
          </a:xfrm>
          <a:prstGeom prst="roundRect">
            <a:avLst>
              <a:gd name="adj" fmla="val 50000"/>
            </a:avLst>
          </a:prstGeom>
          <a:solidFill>
            <a:srgbClr val="0E9A8C"/>
          </a:solidFill>
          <a:ln/>
        </p:spPr>
      </p:sp>
      <p:sp>
        <p:nvSpPr>
          <p:cNvPr id="29" name="Text 27"/>
          <p:cNvSpPr/>
          <p:nvPr/>
        </p:nvSpPr>
        <p:spPr>
          <a:xfrm>
            <a:off x="2953512" y="380390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Inconclusive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" y="43891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NR, NMN raise NAD+; biologically active, clinical benefit still unclear.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325112" y="363931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325112" y="3639312"/>
            <a:ext cx="91440" cy="1417320"/>
          </a:xfrm>
          <a:prstGeom prst="rect">
            <a:avLst/>
          </a:prstGeom>
          <a:solidFill>
            <a:srgbClr val="E8A23D"/>
          </a:solidFill>
          <a:ln/>
        </p:spPr>
      </p:sp>
      <p:sp>
        <p:nvSpPr>
          <p:cNvPr id="33" name="Text 31"/>
          <p:cNvSpPr/>
          <p:nvPr/>
        </p:nvSpPr>
        <p:spPr>
          <a:xfrm>
            <a:off x="4581144" y="378561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Epigenetic reprogramming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6729984" y="3803904"/>
            <a:ext cx="1078992" cy="274320"/>
          </a:xfrm>
          <a:prstGeom prst="roundRect">
            <a:avLst>
              <a:gd name="adj" fmla="val 50000"/>
            </a:avLst>
          </a:prstGeom>
          <a:solidFill>
            <a:srgbClr val="E8A23D"/>
          </a:solidFill>
          <a:ln/>
        </p:spPr>
      </p:sp>
      <p:sp>
        <p:nvSpPr>
          <p:cNvPr id="35" name="Text 33"/>
          <p:cNvSpPr/>
          <p:nvPr/>
        </p:nvSpPr>
        <p:spPr>
          <a:xfrm>
            <a:off x="6729984" y="380390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First-in-human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81144" y="43891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OSK reprogramming rejuvenates cells without losing identity.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101584" y="363931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101584" y="3639312"/>
            <a:ext cx="91440" cy="1417320"/>
          </a:xfrm>
          <a:prstGeom prst="rect">
            <a:avLst/>
          </a:prstGeom>
          <a:solidFill>
            <a:srgbClr val="E0556B"/>
          </a:solidFill>
          <a:ln/>
        </p:spPr>
      </p:sp>
      <p:sp>
        <p:nvSpPr>
          <p:cNvPr id="39" name="Text 37"/>
          <p:cNvSpPr/>
          <p:nvPr/>
        </p:nvSpPr>
        <p:spPr>
          <a:xfrm>
            <a:off x="8357616" y="378561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Immune rejuvenation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10506456" y="3803904"/>
            <a:ext cx="1078992" cy="274320"/>
          </a:xfrm>
          <a:prstGeom prst="roundRect">
            <a:avLst>
              <a:gd name="adj" fmla="val 50000"/>
            </a:avLst>
          </a:prstGeom>
          <a:solidFill>
            <a:srgbClr val="E0556B"/>
          </a:solidFill>
          <a:ln/>
        </p:spPr>
      </p:sp>
      <p:sp>
        <p:nvSpPr>
          <p:cNvPr id="41" name="Text 39"/>
          <p:cNvSpPr/>
          <p:nvPr/>
        </p:nvSpPr>
        <p:spPr>
          <a:xfrm>
            <a:off x="10506456" y="380390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357616" y="43891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Thymus regeneration, mTOR tuning, inflammaging control.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Geroscience framework: NIA. Reviews: Guarente et al., Cell Metab 2024 · Kirkland &amp; Tchkonia, senolytics. Reprogramming: Lu et al., Nature 2020.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A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human trials actually show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371600" cy="0"/>
          </a:xfrm>
          <a:prstGeom prst="line">
            <a:avLst/>
          </a:prstGeom>
          <a:noFill/>
          <a:ln w="38100">
            <a:solidFill>
              <a:srgbClr val="0E9A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130552"/>
            <a:ext cx="914400" cy="914400"/>
          </a:xfrm>
          <a:prstGeom prst="ellipse">
            <a:avLst/>
          </a:prstGeom>
          <a:solidFill>
            <a:srgbClr val="E8A23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305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CALERIE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74520" y="207568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Caloric restriction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74520" y="2478024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yrs of 25% CR slowed the pace of aging (DunedinPACE) — but the effect was small and clock-dependent.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874520" y="33558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8A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Waziry et al., Nature Aging 2023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87452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2130552"/>
            <a:ext cx="914400" cy="914400"/>
          </a:xfrm>
          <a:prstGeom prst="ellipse">
            <a:avLst/>
          </a:prstGeom>
          <a:solidFill>
            <a:srgbClr val="E0556B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1305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+ Q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43800" y="207568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Senolytics (Dasatinib+Quercetin)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43800" y="2478024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human pilot reduced senescent-cell burden in tissue of diabetic kidney disease patients.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543800" y="33558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0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Hickson et al., EBioMedicine 2019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187952"/>
            <a:ext cx="914400" cy="914400"/>
          </a:xfrm>
          <a:prstGeom prst="ellipse">
            <a:avLst/>
          </a:prstGeom>
          <a:solidFill>
            <a:srgbClr val="0E9A8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1879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74520" y="413308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GLP-1 (semaglutide)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74520" y="4535424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lower major cardiovascular events in overweight/obese adults — a metabolic drug with broad aging-relevant benefit.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874520" y="54132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Lincoff et al., NEJM 2023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393192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187952"/>
            <a:ext cx="914400" cy="914400"/>
          </a:xfrm>
          <a:prstGeom prst="ellipse">
            <a:avLst/>
          </a:prstGeom>
          <a:solidFill>
            <a:srgbClr val="12304A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1879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43800" y="413308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Epigenetic reprogramming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43800" y="4535424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reprogramming restored youthful methylation and regenerated optic-nerve vision in mice — proof aging can be partly reversed.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543800" y="54132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 et al., Nature 2020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randomized / pilot trials. Effect sizes vary; none yet establishes a routine "anti-aging" therapy for healthy adults.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55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PROFILING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immune system as a high-dimensional readout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371600" cy="0"/>
          </a:xfrm>
          <a:prstGeom prst="line">
            <a:avLst/>
          </a:prstGeom>
          <a:noFill/>
          <a:ln w="38100">
            <a:solidFill>
              <a:srgbClr val="E055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"immune profile" = many layers measured together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212080" cy="676656"/>
          </a:xfrm>
          <a:prstGeom prst="roundRect">
            <a:avLst>
              <a:gd name="adj" fmla="val 6757"/>
            </a:avLst>
          </a:prstGeom>
          <a:solidFill>
            <a:srgbClr val="0E9A8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03120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  </a:t>
            </a:r>
            <a:pPr indent="0" marL="0">
              <a:buNone/>
            </a:pPr>
            <a:r>
              <a:rPr lang="en-US" sz="11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Innate &amp; adaptive subsets — T / B / NK / monocyte composition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4944" y="2852928"/>
            <a:ext cx="5065776" cy="676656"/>
          </a:xfrm>
          <a:prstGeom prst="roundRect">
            <a:avLst>
              <a:gd name="adj" fmla="val 6757"/>
            </a:avLst>
          </a:prstGeom>
          <a:solidFill>
            <a:srgbClr val="27C2B0"/>
          </a:solidFill>
          <a:ln/>
        </p:spPr>
      </p:sp>
      <p:sp>
        <p:nvSpPr>
          <p:cNvPr id="10" name="Text 8"/>
          <p:cNvSpPr/>
          <p:nvPr/>
        </p:nvSpPr>
        <p:spPr>
          <a:xfrm>
            <a:off x="923544" y="2852928"/>
            <a:ext cx="47000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  </a:t>
            </a:r>
            <a:pPr indent="0" marL="0">
              <a:buNone/>
            </a:pPr>
            <a:r>
              <a:rPr lang="en-US" sz="11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Exhaustion &amp; activation markers; cytokines / chemokines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3602736"/>
            <a:ext cx="4919472" cy="676656"/>
          </a:xfrm>
          <a:prstGeom prst="roundRect">
            <a:avLst>
              <a:gd name="adj" fmla="val 6757"/>
            </a:avLst>
          </a:prstGeom>
          <a:solidFill>
            <a:srgbClr val="E8A23D"/>
          </a:solidFill>
          <a:ln/>
        </p:spPr>
      </p:sp>
      <p:sp>
        <p:nvSpPr>
          <p:cNvPr id="12" name="Text 10"/>
          <p:cNvSpPr/>
          <p:nvPr/>
        </p:nvSpPr>
        <p:spPr>
          <a:xfrm>
            <a:off x="1069848" y="3602736"/>
            <a:ext cx="4553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Repertoire   </a:t>
            </a:r>
            <a:pPr indent="0" marL="0">
              <a:buNone/>
            </a:pPr>
            <a:r>
              <a:rPr lang="en-US" sz="11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Antibodies, TCR / BCR diversity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87552" y="4352544"/>
            <a:ext cx="4773168" cy="676656"/>
          </a:xfrm>
          <a:prstGeom prst="roundRect">
            <a:avLst>
              <a:gd name="adj" fmla="val 6757"/>
            </a:avLst>
          </a:prstGeom>
          <a:solidFill>
            <a:srgbClr val="E0556B"/>
          </a:solidFill>
          <a:ln/>
        </p:spPr>
      </p:sp>
      <p:sp>
        <p:nvSpPr>
          <p:cNvPr id="14" name="Text 12"/>
          <p:cNvSpPr/>
          <p:nvPr/>
        </p:nvSpPr>
        <p:spPr>
          <a:xfrm>
            <a:off x="1216152" y="4352544"/>
            <a:ext cx="44074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  </a:t>
            </a:r>
            <a:pPr indent="0" marL="0">
              <a:buNone/>
            </a:pPr>
            <a:r>
              <a:rPr lang="en-US" sz="11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Transcriptome · proteome · epigenome · metabolome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33856" y="5102352"/>
            <a:ext cx="4626864" cy="676656"/>
          </a:xfrm>
          <a:prstGeom prst="roundRect">
            <a:avLst>
              <a:gd name="adj" fmla="val 6757"/>
            </a:avLst>
          </a:prstGeom>
          <a:solidFill>
            <a:srgbClr val="12304A"/>
          </a:solidFill>
          <a:ln/>
        </p:spPr>
      </p:sp>
      <p:sp>
        <p:nvSpPr>
          <p:cNvPr id="16" name="Text 14"/>
          <p:cNvSpPr/>
          <p:nvPr/>
        </p:nvSpPr>
        <p:spPr>
          <a:xfrm>
            <a:off x="1362456" y="5102352"/>
            <a:ext cx="42611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  </a:t>
            </a:r>
            <a:pPr indent="0" marL="0">
              <a:buNone/>
            </a:pPr>
            <a:r>
              <a:rPr lang="en-US" sz="11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after perturbation (e.g. vaccination)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182880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0B1E2D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7C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IMMUNOME PROJECT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3774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moonshot to map the immune system at scale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46520" y="3246120"/>
            <a:ext cx="146304" cy="146304"/>
          </a:xfrm>
          <a:prstGeom prst="ellipse">
            <a:avLst/>
          </a:prstGeom>
          <a:solidFill>
            <a:srgbClr val="27C2B0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312724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immunological parameters — cells, transcripts, antibodies, proteins, epigenetic marks, metabolites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46520" y="3959352"/>
            <a:ext cx="146304" cy="146304"/>
          </a:xfrm>
          <a:prstGeom prst="ellipse">
            <a:avLst/>
          </a:prstGeom>
          <a:solidFill>
            <a:srgbClr val="27C2B0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38404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IM-Kit assays measured at baseline and after vaccination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46520" y="4672584"/>
            <a:ext cx="146304" cy="146304"/>
          </a:xfrm>
          <a:prstGeom prst="ellipse">
            <a:avLst/>
          </a:prstGeom>
          <a:solidFill>
            <a:srgbClr val="27C2B0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455371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to integrate modalities and predict immune health across populations (children → elderly)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Immunome Project — Scientific Approach (humanimmunomeproject.org). An immune profile is a measurement package, not a single number.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C2B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7C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AGING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Immunosenescence, inflammaging &amp; the immune clock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371600" cy="0"/>
          </a:xfrm>
          <a:prstGeom prst="line">
            <a:avLst/>
          </a:prstGeom>
          <a:noFill/>
          <a:ln w="38100">
            <a:solidFill>
              <a:srgbClr val="27C2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C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immune system 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240280"/>
            <a:ext cx="91440" cy="822960"/>
          </a:xfrm>
          <a:prstGeom prst="rect">
            <a:avLst/>
          </a:prstGeom>
          <a:solidFill>
            <a:srgbClr val="E0556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500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Naïve T cells ↓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26791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Thymic involution shrinks the pool of cells that fight new threats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172968"/>
            <a:ext cx="91440" cy="822960"/>
          </a:xfrm>
          <a:prstGeom prst="rect">
            <a:avLst/>
          </a:prstGeom>
          <a:solidFill>
            <a:srgbClr val="E8A23D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8269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/ exhausted T cells ↑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77240" y="3611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Repertoire narrows; responses to new antigens weaken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105656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4105656"/>
            <a:ext cx="91440" cy="822960"/>
          </a:xfrm>
          <a:prstGeom prst="rect">
            <a:avLst/>
          </a:prstGeom>
          <a:solidFill>
            <a:srgbClr val="E0556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1538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Inflammaging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7240" y="45445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Chronic, low-grade inflammation rises even without infection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038344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5038344"/>
            <a:ext cx="91440" cy="822960"/>
          </a:xfrm>
          <a:prstGeom prst="rect">
            <a:avLst/>
          </a:prstGeom>
          <a:solidFill>
            <a:srgbClr val="E8A23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1480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Vaccine response ↓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77240" y="547725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protection — a practical clinical signature of immune aging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92240" y="2240280"/>
            <a:ext cx="5120640" cy="3703320"/>
          </a:xfrm>
          <a:prstGeom prst="roundRect">
            <a:avLst>
              <a:gd name="adj" fmla="val 1975"/>
            </a:avLst>
          </a:prstGeom>
          <a:solidFill>
            <a:srgbClr val="0B1E2D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6656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7C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IMMUNE CLOCK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2743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iAge</a:t>
            </a:r>
            <a:endParaRPr lang="en-US" sz="5400" dirty="0"/>
          </a:p>
        </p:txBody>
      </p:sp>
      <p:sp>
        <p:nvSpPr>
          <p:cNvPr id="26" name="Text 24"/>
          <p:cNvSpPr/>
          <p:nvPr/>
        </p:nvSpPr>
        <p:spPr>
          <a:xfrm>
            <a:off x="676656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C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inflammatory aging clock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66560" y="40233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on the blood immunome of ~1,000 people produces a single inflammatory-age score that tracks multimorbidity, immunosenescence, frailty and cardiovascular aging.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0" y="5349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caveat as DNA clocks: promising, not yet a settled clinical test.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Sayed et al. "An inflammatory aging clock (iAge)." Nature Aging 2021. See also longitudinal multi-omic immune-aging profiling, Nature 2025.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A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LIFE —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virtual cell: from genotype to phenotype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371600" cy="0"/>
          </a:xfrm>
          <a:prstGeom prst="line">
            <a:avLst/>
          </a:prstGeom>
          <a:noFill/>
          <a:ln w="38100">
            <a:solidFill>
              <a:srgbClr val="0E9A8C"/>
            </a:solidFill>
            <a:prstDash val="solid"/>
          </a:ln>
        </p:spPr>
      </p:sp>
      <p:pic>
        <p:nvPicPr>
          <p:cNvPr id="6" name="Image 0" descr="extracted/vcell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120640" cy="37268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6013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Whole-cell model integrating 28 cellular submodels (M. genitalium)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2648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cell, simulated end-to-end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126480" y="2423160"/>
            <a:ext cx="256032" cy="256032"/>
          </a:xfrm>
          <a:prstGeom prst="ellipse">
            <a:avLst/>
          </a:prstGeom>
          <a:solidFill>
            <a:srgbClr val="0E9A8C"/>
          </a:solidFill>
          <a:ln/>
        </p:spPr>
      </p:sp>
      <p:sp>
        <p:nvSpPr>
          <p:cNvPr id="10" name="Text 7"/>
          <p:cNvSpPr/>
          <p:nvPr/>
        </p:nvSpPr>
        <p:spPr>
          <a:xfrm>
            <a:off x="6126480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92240" y="2377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whole-cell model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492240" y="276148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gene, RNA, protein and metabolite of the simplest free-living microbe, computed over its full life cycle.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26480" y="3749040"/>
            <a:ext cx="256032" cy="256032"/>
          </a:xfrm>
          <a:prstGeom prst="ellipse">
            <a:avLst/>
          </a:prstGeom>
          <a:solidFill>
            <a:srgbClr val="0E9A8C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3749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0" y="3703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Genotype → phenotype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492240" y="408736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Mechanistic simulation predicts observable behavior directly from the DNA sequence.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126480" y="5074920"/>
            <a:ext cx="256032" cy="256032"/>
          </a:xfrm>
          <a:prstGeom prst="ellipse">
            <a:avLst/>
          </a:prstGeom>
          <a:solidFill>
            <a:srgbClr val="0E9A8C"/>
          </a:solidFill>
          <a:ln/>
        </p:spPr>
      </p:sp>
      <p:sp>
        <p:nvSpPr>
          <p:cNvPr id="18" name="Text 15"/>
          <p:cNvSpPr/>
          <p:nvPr/>
        </p:nvSpPr>
        <p:spPr>
          <a:xfrm>
            <a:off x="6126480" y="5074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92240" y="5029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 for aging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492240" y="541324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testbed for how molecular damage propagates to cell-level failure — the logic behind today's "AI Virtual Cell" ambitions.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Karr, Sanghvi, Macklin … Covert. "A Whole-Cell Computational Model Predicts Phenotype from Genotype." Cell 2012, 150(2):389–401.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A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LIFE —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Single-cell foundation models: cells as language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371600" cy="0"/>
          </a:xfrm>
          <a:prstGeom prst="line">
            <a:avLst/>
          </a:prstGeom>
          <a:noFill/>
          <a:ln w="38100">
            <a:solidFill>
              <a:srgbClr val="0E9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scGPT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generative pretrained transformer that treats each cell as a "sentence" of genes and learns reusable cell &amp; gene representations (Cui et al., Nature Methods 2024).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993392" cy="868680"/>
          </a:xfrm>
          <a:prstGeom prst="roundRect">
            <a:avLst>
              <a:gd name="adj" fmla="val 7368"/>
            </a:avLst>
          </a:prstGeom>
          <a:solidFill>
            <a:srgbClr val="0E9A8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scRNA-seq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560320" y="214884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C7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871216" y="2148840"/>
            <a:ext cx="1993392" cy="868680"/>
          </a:xfrm>
          <a:prstGeom prst="roundRect">
            <a:avLst>
              <a:gd name="adj" fmla="val 7368"/>
            </a:avLst>
          </a:prstGeom>
          <a:solidFill>
            <a:srgbClr val="27C2B0"/>
          </a:solidFill>
          <a:ln/>
        </p:spPr>
      </p:sp>
      <p:sp>
        <p:nvSpPr>
          <p:cNvPr id="11" name="Text 9"/>
          <p:cNvSpPr/>
          <p:nvPr/>
        </p:nvSpPr>
        <p:spPr>
          <a:xfrm>
            <a:off x="2871216" y="214884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+ value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82896" y="214884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C7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193792" y="2148840"/>
            <a:ext cx="1993392" cy="868680"/>
          </a:xfrm>
          <a:prstGeom prst="roundRect">
            <a:avLst>
              <a:gd name="adj" fmla="val 7368"/>
            </a:avLst>
          </a:prstGeom>
          <a:solidFill>
            <a:srgbClr val="12304A"/>
          </a:solidFill>
          <a:ln/>
        </p:spPr>
      </p:sp>
      <p:sp>
        <p:nvSpPr>
          <p:cNvPr id="14" name="Text 12"/>
          <p:cNvSpPr/>
          <p:nvPr/>
        </p:nvSpPr>
        <p:spPr>
          <a:xfrm>
            <a:off x="5193792" y="214884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205472" y="214884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C7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516368" y="2148840"/>
            <a:ext cx="1993392" cy="868680"/>
          </a:xfrm>
          <a:prstGeom prst="roundRect">
            <a:avLst>
              <a:gd name="adj" fmla="val 7368"/>
            </a:avLst>
          </a:prstGeom>
          <a:solidFill>
            <a:srgbClr val="E8A23D"/>
          </a:solidFill>
          <a:ln/>
        </p:spPr>
      </p:sp>
      <p:sp>
        <p:nvSpPr>
          <p:cNvPr id="17" name="Text 15"/>
          <p:cNvSpPr/>
          <p:nvPr/>
        </p:nvSpPr>
        <p:spPr>
          <a:xfrm>
            <a:off x="7516368" y="214884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&amp; gene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528048" y="214884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C7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838944" y="2148840"/>
            <a:ext cx="1993392" cy="868680"/>
          </a:xfrm>
          <a:prstGeom prst="roundRect">
            <a:avLst>
              <a:gd name="adj" fmla="val 7368"/>
            </a:avLst>
          </a:prstGeom>
          <a:solidFill>
            <a:srgbClr val="E0556B"/>
          </a:solidFill>
          <a:ln/>
        </p:spPr>
      </p:sp>
      <p:sp>
        <p:nvSpPr>
          <p:cNvPr id="20" name="Text 18"/>
          <p:cNvSpPr/>
          <p:nvPr/>
        </p:nvSpPr>
        <p:spPr>
          <a:xfrm>
            <a:off x="9838944" y="214884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31089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once on ~33 million human cells (CZI CELLxGENE), then transferred to many tasks.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520440"/>
            <a:ext cx="3611880" cy="420624"/>
          </a:xfrm>
          <a:prstGeom prst="rect">
            <a:avLst/>
          </a:prstGeom>
          <a:solidFill>
            <a:srgbClr val="0E9A8C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52044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49808" y="4123944"/>
            <a:ext cx="146304" cy="146304"/>
          </a:xfrm>
          <a:prstGeom prst="ellipse">
            <a:avLst/>
          </a:prstGeom>
          <a:solidFill>
            <a:srgbClr val="0E9A8C"/>
          </a:solidFill>
          <a:ln/>
        </p:spPr>
      </p:sp>
      <p:sp>
        <p:nvSpPr>
          <p:cNvPr id="26" name="Text 24"/>
          <p:cNvSpPr/>
          <p:nvPr/>
        </p:nvSpPr>
        <p:spPr>
          <a:xfrm>
            <a:off x="969264" y="405079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8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Per-cell gene-expression vector (scRNA-seq)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749808" y="4462272"/>
            <a:ext cx="146304" cy="146304"/>
          </a:xfrm>
          <a:prstGeom prst="ellipse">
            <a:avLst/>
          </a:prstGeom>
          <a:solidFill>
            <a:srgbClr val="0E9A8C"/>
          </a:solidFill>
          <a:ln/>
        </p:spPr>
      </p:sp>
      <p:sp>
        <p:nvSpPr>
          <p:cNvPr id="28" name="Text 26"/>
          <p:cNvSpPr/>
          <p:nvPr/>
        </p:nvSpPr>
        <p:spPr>
          <a:xfrm>
            <a:off x="969264" y="43891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8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as (gene token + binned value) pairs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749808" y="4800600"/>
            <a:ext cx="146304" cy="146304"/>
          </a:xfrm>
          <a:prstGeom prst="ellipse">
            <a:avLst/>
          </a:prstGeom>
          <a:solidFill>
            <a:srgbClr val="0E9A8C"/>
          </a:solidFill>
          <a:ln/>
        </p:spPr>
      </p:sp>
      <p:sp>
        <p:nvSpPr>
          <p:cNvPr id="30" name="Text 28"/>
          <p:cNvSpPr/>
          <p:nvPr/>
        </p:nvSpPr>
        <p:spPr>
          <a:xfrm>
            <a:off x="969264" y="472744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8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condition tokens: batch · modality · perturbation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749808" y="5138928"/>
            <a:ext cx="146304" cy="146304"/>
          </a:xfrm>
          <a:prstGeom prst="ellipse">
            <a:avLst/>
          </a:prstGeom>
          <a:solidFill>
            <a:srgbClr val="0E9A8C"/>
          </a:solidFill>
          <a:ln/>
        </p:spPr>
      </p:sp>
      <p:sp>
        <p:nvSpPr>
          <p:cNvPr id="32" name="Text 30"/>
          <p:cNvSpPr/>
          <p:nvPr/>
        </p:nvSpPr>
        <p:spPr>
          <a:xfrm>
            <a:off x="969264" y="5065776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8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&lt;cls&gt; token aggregates cell state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4325112" y="352044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25112" y="3520440"/>
            <a:ext cx="3611880" cy="420624"/>
          </a:xfrm>
          <a:prstGeom prst="rect">
            <a:avLst/>
          </a:prstGeom>
          <a:solidFill>
            <a:srgbClr val="12304A"/>
          </a:solidFill>
          <a:ln/>
        </p:spPr>
      </p:sp>
      <p:sp>
        <p:nvSpPr>
          <p:cNvPr id="35" name="Text 33"/>
          <p:cNvSpPr/>
          <p:nvPr/>
        </p:nvSpPr>
        <p:spPr>
          <a:xfrm>
            <a:off x="4325112" y="352044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526280" y="4123944"/>
            <a:ext cx="146304" cy="146304"/>
          </a:xfrm>
          <a:prstGeom prst="ellipse">
            <a:avLst/>
          </a:prstGeom>
          <a:solidFill>
            <a:srgbClr val="12304A"/>
          </a:solidFill>
          <a:ln/>
        </p:spPr>
      </p:sp>
      <p:sp>
        <p:nvSpPr>
          <p:cNvPr id="37" name="Text 35"/>
          <p:cNvSpPr/>
          <p:nvPr/>
        </p:nvSpPr>
        <p:spPr>
          <a:xfrm>
            <a:off x="4745736" y="405079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8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+ expression embeddings → learned vectors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4526280" y="4462272"/>
            <a:ext cx="146304" cy="146304"/>
          </a:xfrm>
          <a:prstGeom prst="ellipse">
            <a:avLst/>
          </a:prstGeom>
          <a:solidFill>
            <a:srgbClr val="12304A"/>
          </a:solidFill>
          <a:ln/>
        </p:spPr>
      </p:sp>
      <p:sp>
        <p:nvSpPr>
          <p:cNvPr id="39" name="Text 37"/>
          <p:cNvSpPr/>
          <p:nvPr/>
        </p:nvSpPr>
        <p:spPr>
          <a:xfrm>
            <a:off x="4745736" y="43891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8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transformer blocks, specialized masked attention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4526280" y="4800600"/>
            <a:ext cx="146304" cy="146304"/>
          </a:xfrm>
          <a:prstGeom prst="ellipse">
            <a:avLst/>
          </a:prstGeom>
          <a:solidFill>
            <a:srgbClr val="12304A"/>
          </a:solidFill>
          <a:ln/>
        </p:spPr>
      </p:sp>
      <p:sp>
        <p:nvSpPr>
          <p:cNvPr id="41" name="Text 39"/>
          <p:cNvSpPr/>
          <p:nvPr/>
        </p:nvSpPr>
        <p:spPr>
          <a:xfrm>
            <a:off x="4745736" y="472744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8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masked-expression pretraining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4526280" y="5138928"/>
            <a:ext cx="146304" cy="146304"/>
          </a:xfrm>
          <a:prstGeom prst="ellipse">
            <a:avLst/>
          </a:prstGeom>
          <a:solidFill>
            <a:srgbClr val="12304A"/>
          </a:solidFill>
          <a:ln/>
        </p:spPr>
      </p:sp>
      <p:sp>
        <p:nvSpPr>
          <p:cNvPr id="43" name="Text 41"/>
          <p:cNvSpPr/>
          <p:nvPr/>
        </p:nvSpPr>
        <p:spPr>
          <a:xfrm>
            <a:off x="4745736" y="5065776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8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&amp; gene representation heads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8101584" y="352044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101584" y="3520440"/>
            <a:ext cx="3611880" cy="420624"/>
          </a:xfrm>
          <a:prstGeom prst="rect">
            <a:avLst/>
          </a:prstGeom>
          <a:solidFill>
            <a:srgbClr val="E0556B"/>
          </a:solidFill>
          <a:ln/>
        </p:spPr>
      </p:sp>
      <p:sp>
        <p:nvSpPr>
          <p:cNvPr id="46" name="Text 44"/>
          <p:cNvSpPr/>
          <p:nvPr/>
        </p:nvSpPr>
        <p:spPr>
          <a:xfrm>
            <a:off x="8101584" y="352044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/  TASKS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8302752" y="4123944"/>
            <a:ext cx="146304" cy="146304"/>
          </a:xfrm>
          <a:prstGeom prst="ellipse">
            <a:avLst/>
          </a:prstGeom>
          <a:solidFill>
            <a:srgbClr val="E0556B"/>
          </a:solidFill>
          <a:ln/>
        </p:spPr>
      </p:sp>
      <p:sp>
        <p:nvSpPr>
          <p:cNvPr id="48" name="Text 46"/>
          <p:cNvSpPr/>
          <p:nvPr/>
        </p:nvSpPr>
        <p:spPr>
          <a:xfrm>
            <a:off x="8522208" y="405079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8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Cell-type annotation &amp; state classification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8302752" y="4462272"/>
            <a:ext cx="146304" cy="146304"/>
          </a:xfrm>
          <a:prstGeom prst="ellipse">
            <a:avLst/>
          </a:prstGeom>
          <a:solidFill>
            <a:srgbClr val="E0556B"/>
          </a:solidFill>
          <a:ln/>
        </p:spPr>
      </p:sp>
      <p:sp>
        <p:nvSpPr>
          <p:cNvPr id="50" name="Text 48"/>
          <p:cNvSpPr/>
          <p:nvPr/>
        </p:nvSpPr>
        <p:spPr>
          <a:xfrm>
            <a:off x="8522208" y="43891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8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integration across datasets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8302752" y="4800600"/>
            <a:ext cx="146304" cy="146304"/>
          </a:xfrm>
          <a:prstGeom prst="ellipse">
            <a:avLst/>
          </a:prstGeom>
          <a:solidFill>
            <a:srgbClr val="E0556B"/>
          </a:solidFill>
          <a:ln/>
        </p:spPr>
      </p:sp>
      <p:sp>
        <p:nvSpPr>
          <p:cNvPr id="52" name="Text 50"/>
          <p:cNvSpPr/>
          <p:nvPr/>
        </p:nvSpPr>
        <p:spPr>
          <a:xfrm>
            <a:off x="8522208" y="472744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8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regulatory network inference</a:t>
            </a:r>
            <a:endParaRPr lang="en-US" sz="1080" dirty="0"/>
          </a:p>
        </p:txBody>
      </p:sp>
      <p:sp>
        <p:nvSpPr>
          <p:cNvPr id="53" name="Shape 51"/>
          <p:cNvSpPr/>
          <p:nvPr/>
        </p:nvSpPr>
        <p:spPr>
          <a:xfrm>
            <a:off x="8302752" y="5138928"/>
            <a:ext cx="146304" cy="146304"/>
          </a:xfrm>
          <a:prstGeom prst="ellipse">
            <a:avLst/>
          </a:prstGeom>
          <a:solidFill>
            <a:srgbClr val="E0556B"/>
          </a:solidFill>
          <a:ln/>
        </p:spPr>
      </p:sp>
      <p:sp>
        <p:nvSpPr>
          <p:cNvPr id="54" name="Text 52"/>
          <p:cNvSpPr/>
          <p:nvPr/>
        </p:nvSpPr>
        <p:spPr>
          <a:xfrm>
            <a:off x="8522208" y="5065776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8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 / in-silico response prediction</a:t>
            </a:r>
            <a:endParaRPr lang="en-US" sz="1080" dirty="0"/>
          </a:p>
        </p:txBody>
      </p:sp>
      <p:sp>
        <p:nvSpPr>
          <p:cNvPr id="55" name="Shape 53"/>
          <p:cNvSpPr/>
          <p:nvPr/>
        </p:nvSpPr>
        <p:spPr>
          <a:xfrm>
            <a:off x="8302752" y="5477256"/>
            <a:ext cx="146304" cy="146304"/>
          </a:xfrm>
          <a:prstGeom prst="ellipse">
            <a:avLst/>
          </a:prstGeom>
          <a:solidFill>
            <a:srgbClr val="E0556B"/>
          </a:solidFill>
          <a:ln/>
        </p:spPr>
      </p:sp>
      <p:sp>
        <p:nvSpPr>
          <p:cNvPr id="56" name="Text 54"/>
          <p:cNvSpPr/>
          <p:nvPr/>
        </p:nvSpPr>
        <p:spPr>
          <a:xfrm>
            <a:off x="8522208" y="5404104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8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Multi-omic integration (RNA + ATAC + protein)</a:t>
            </a:r>
            <a:endParaRPr lang="en-US" sz="1080" dirty="0"/>
          </a:p>
        </p:txBody>
      </p:sp>
      <p:sp>
        <p:nvSpPr>
          <p:cNvPr id="57" name="Text 55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 once on tens of millions of cells, then transfer to many tasks with little labeled data — a foundation for the "AI virtual cell."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 et al. scGPT. Nature Methods 2024;21:1470–1480 · Theodoris et al. (Geneformer), Nature 2023 · Hao et al. (scFoundation), Nat. Methods 2024 · Bunne, Leskovec, Regev et al. "How to build the virtual cell with AI," Cell 2024.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2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LIFE —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Biological multimodal LLMs: reading the genome like image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371600" cy="0"/>
          </a:xfrm>
          <a:prstGeom prst="line">
            <a:avLst/>
          </a:prstGeom>
          <a:noFill/>
          <a:ln w="38100">
            <a:solidFill>
              <a:srgbClr val="E8A23D"/>
            </a:solidFill>
            <a:prstDash val="solid"/>
          </a:ln>
        </p:spPr>
      </p:sp>
      <p:pic>
        <p:nvPicPr>
          <p:cNvPr id="6" name="Image 0" descr="extracted/bioreason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7498080" cy="38729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774927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BIOREASON couples a DNA foundation model (Evo2) with an LLM (Qwen3) to reason from variant → mechanism → disease.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12480" y="1828800"/>
            <a:ext cx="3200400" cy="4023360"/>
          </a:xfrm>
          <a:prstGeom prst="roundRect">
            <a:avLst>
              <a:gd name="adj" fmla="val 2286"/>
            </a:avLst>
          </a:prstGeom>
          <a:solidFill>
            <a:srgbClr val="0B1E2D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4108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NEW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41080" y="2468880"/>
            <a:ext cx="164592" cy="164592"/>
          </a:xfrm>
          <a:prstGeom prst="ellipse">
            <a:avLst/>
          </a:prstGeom>
          <a:solidFill>
            <a:srgbClr val="27C2B0"/>
          </a:solidFill>
          <a:ln/>
        </p:spPr>
      </p:sp>
      <p:sp>
        <p:nvSpPr>
          <p:cNvPr id="11" name="Text 8"/>
          <p:cNvSpPr/>
          <p:nvPr/>
        </p:nvSpPr>
        <p:spPr>
          <a:xfrm>
            <a:off x="8869680" y="238658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DNA as language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869680" y="271576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 foundation models learn sequence "grammar" like LLMs learn text.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641080" y="3611880"/>
            <a:ext cx="164592" cy="164592"/>
          </a:xfrm>
          <a:prstGeom prst="ellipse">
            <a:avLst/>
          </a:prstGeom>
          <a:solidFill>
            <a:srgbClr val="E8A23D"/>
          </a:solidFill>
          <a:ln/>
        </p:spPr>
      </p:sp>
      <p:sp>
        <p:nvSpPr>
          <p:cNvPr id="14" name="Text 11"/>
          <p:cNvSpPr/>
          <p:nvPr/>
        </p:nvSpPr>
        <p:spPr>
          <a:xfrm>
            <a:off x="8869680" y="352958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 reasoning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869680" y="385876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encoder + LLM produces step-by-step biological explanations, not just labels.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641080" y="4754880"/>
            <a:ext cx="164592" cy="164592"/>
          </a:xfrm>
          <a:prstGeom prst="ellipse">
            <a:avLst/>
          </a:prstGeom>
          <a:solidFill>
            <a:srgbClr val="E0556B"/>
          </a:solidFill>
          <a:ln/>
        </p:spPr>
      </p:sp>
      <p:sp>
        <p:nvSpPr>
          <p:cNvPr id="17" name="Text 14"/>
          <p:cNvSpPr/>
          <p:nvPr/>
        </p:nvSpPr>
        <p:spPr>
          <a:xfrm>
            <a:off x="8869680" y="467258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Toward in-silico biology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869680" y="500176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paradigm powers virtual-cell and aging-mechanism prediction.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BIOREASON: "Incentivizing Multimodal Biological Reasoning within a DNA-LLM Model" (2025). Builds on Evo2 genome model + Qwen3 LLM.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2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SIGNALS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virtual cells: the TechBio race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371600" cy="0"/>
          </a:xfrm>
          <a:prstGeom prst="line">
            <a:avLst/>
          </a:prstGeom>
          <a:noFill/>
          <a:ln w="38100">
            <a:solidFill>
              <a:srgbClr val="E8A2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drug discovery, immuno-oncology and aging, companies are racing to build AI foundation models of cells, tissues and whole organisms.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057400"/>
            <a:ext cx="3611880" cy="91440"/>
          </a:xfrm>
          <a:prstGeom prst="rect">
            <a:avLst/>
          </a:prstGeom>
          <a:solidFill>
            <a:srgbClr val="0E9A8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Noetik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34640" y="225856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9A8C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22585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6243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E9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GSK licenses OCTO virtual-cell models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1363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3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GSK signed a 5-yr deal for Noetik's OCTO spatial multi-omics virtual-cell models (~$50M upfront/near-term).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777240" y="35478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25112" y="20574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25112" y="2057400"/>
            <a:ext cx="3611880" cy="91440"/>
          </a:xfrm>
          <a:prstGeom prst="rect">
            <a:avLst/>
          </a:prstGeom>
          <a:solidFill>
            <a:srgbClr val="E0556B"/>
          </a:solidFill>
          <a:ln/>
        </p:spPr>
      </p:sp>
      <p:sp>
        <p:nvSpPr>
          <p:cNvPr id="17" name="Text 15"/>
          <p:cNvSpPr/>
          <p:nvPr/>
        </p:nvSpPr>
        <p:spPr>
          <a:xfrm>
            <a:off x="4553712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Recursion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11112" y="225856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0556B"/>
          </a:solidFill>
          <a:ln/>
        </p:spPr>
      </p:sp>
      <p:sp>
        <p:nvSpPr>
          <p:cNvPr id="19" name="Text 17"/>
          <p:cNvSpPr/>
          <p:nvPr/>
        </p:nvSpPr>
        <p:spPr>
          <a:xfrm>
            <a:off x="6611112" y="22585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Phenomics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53712" y="26243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E05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AI-found degrader posts clean early data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53712" y="31363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3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REC-1245 (RBM39 degrader, platform-discovered): well-tolerated, dose-dependent PK, no DLTs in solid tumors.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4553712" y="35478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E0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01584" y="20574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01584" y="2057400"/>
            <a:ext cx="3611880" cy="91440"/>
          </a:xfrm>
          <a:prstGeom prst="rect">
            <a:avLst/>
          </a:prstGeom>
          <a:solidFill>
            <a:srgbClr val="12304A"/>
          </a:solidFill>
          <a:ln/>
        </p:spPr>
      </p:sp>
      <p:sp>
        <p:nvSpPr>
          <p:cNvPr id="25" name="Text 23"/>
          <p:cNvSpPr/>
          <p:nvPr/>
        </p:nvSpPr>
        <p:spPr>
          <a:xfrm>
            <a:off x="8330184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 Institute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387584" y="225856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2304A"/>
          </a:solidFill>
          <a:ln/>
        </p:spPr>
      </p:sp>
      <p:sp>
        <p:nvSpPr>
          <p:cNvPr id="27" name="Text 25"/>
          <p:cNvSpPr/>
          <p:nvPr/>
        </p:nvSpPr>
        <p:spPr>
          <a:xfrm>
            <a:off x="10387584" y="22585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 model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30184" y="26243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23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 2 + Virtual Cell Challenge launched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330184" y="31363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3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the Evo 2 genome model and an annual challenge to predict cellular perturbation responses (1,200+ teams).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8330184" y="35478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40233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4023360"/>
            <a:ext cx="3611880" cy="91440"/>
          </a:xfrm>
          <a:prstGeom prst="rect">
            <a:avLst/>
          </a:prstGeom>
          <a:solidFill>
            <a:srgbClr val="E8A23D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4206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 Zuckerberg Initiative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834640" y="42245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8A23D"/>
          </a:solidFill>
          <a:ln/>
        </p:spPr>
      </p:sp>
      <p:sp>
        <p:nvSpPr>
          <p:cNvPr id="35" name="Text 33"/>
          <p:cNvSpPr/>
          <p:nvPr/>
        </p:nvSpPr>
        <p:spPr>
          <a:xfrm>
            <a:off x="2834640" y="42245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cell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" y="45902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E8A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rBio reasons over virtual cells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77240" y="51023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3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reasoning model trained on virtual-cell simulations — predict gene interactions in plain language, no wet lab.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777240" y="55138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E8A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2025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325112" y="40233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DEE3"/>
            </a:solidFill>
            <a:prstDash val="solid"/>
          </a:ln>
          <a:effectLst>
            <a:outerShdw sx="100000" sy="100000" kx="0" ky="0" algn="bl" rotWithShape="0" blurRad="88900" dist="38100" dir="5400000">
              <a:srgbClr val="8AA0AD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325112" y="4023360"/>
            <a:ext cx="3611880" cy="91440"/>
          </a:xfrm>
          <a:prstGeom prst="rect">
            <a:avLst/>
          </a:prstGeom>
          <a:solidFill>
            <a:srgbClr val="27C2B0"/>
          </a:solidFill>
          <a:ln/>
        </p:spPr>
      </p:sp>
      <p:sp>
        <p:nvSpPr>
          <p:cNvPr id="41" name="Text 39"/>
          <p:cNvSpPr/>
          <p:nvPr/>
        </p:nvSpPr>
        <p:spPr>
          <a:xfrm>
            <a:off x="4553712" y="4206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CZI × NVIDIA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611112" y="42245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27C2B0"/>
          </a:solidFill>
          <a:ln/>
        </p:spPr>
      </p:sp>
      <p:sp>
        <p:nvSpPr>
          <p:cNvPr id="43" name="Text 41"/>
          <p:cNvSpPr/>
          <p:nvPr/>
        </p:nvSpPr>
        <p:spPr>
          <a:xfrm>
            <a:off x="6611112" y="42245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infra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53712" y="45902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7C2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virtual cells to petabyte data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553712" y="51023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3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collaboration to train virtual-cell models across petabytes and billions of cellular observations.</a:t>
            </a:r>
            <a:endParaRPr lang="en-US" sz="1030" dirty="0"/>
          </a:p>
        </p:txBody>
      </p:sp>
      <p:sp>
        <p:nvSpPr>
          <p:cNvPr id="46" name="Text 44"/>
          <p:cNvSpPr/>
          <p:nvPr/>
        </p:nvSpPr>
        <p:spPr>
          <a:xfrm>
            <a:off x="4553712" y="55138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27C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2025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101584" y="40233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0B1E2D"/>
          </a:solidFill>
          <a:ln/>
        </p:spPr>
      </p:sp>
      <p:sp>
        <p:nvSpPr>
          <p:cNvPr id="48" name="Text 46"/>
          <p:cNvSpPr/>
          <p:nvPr/>
        </p:nvSpPr>
        <p:spPr>
          <a:xfrm>
            <a:off x="8357616" y="42245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THROUGH-LINE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357616" y="45720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scale + foundation models are moving from genomics into spatial, cellular and whole-organism biology — turning the cell itself into a programmable, predictable model.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noetik.blog · Recursion Q1-2026 results (SEC 8-K, May 2026) · Arc Institute (arcinstitute.org, Evo 2) · CZI rBio &amp; CZI–NVIDIA virtual-cell collaboration (chanzuckerberg.com, 2025). Verified via fetched pages / search.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C2B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7C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THROUGH-LINE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Aging and immunity resist a single number —</a:t>
            </a:r>
            <a:endParaRPr lang="en-US" sz="2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they are becoming readable, and increasingly writable.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5212080" cy="1417320"/>
          </a:xfrm>
          <a:prstGeom prst="roundRect">
            <a:avLst>
              <a:gd name="adj" fmla="val 3871"/>
            </a:avLst>
          </a:prstGeom>
          <a:solidFill>
            <a:srgbClr val="12304A"/>
          </a:solidFill>
          <a:ln w="15240">
            <a:solidFill>
              <a:srgbClr val="0E9A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743200"/>
            <a:ext cx="91440" cy="1417320"/>
          </a:xfrm>
          <a:prstGeom prst="rect">
            <a:avLst/>
          </a:prstGeom>
          <a:solidFill>
            <a:srgbClr val="0E9A8C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9077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Multi-dimensional by nature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3101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= a network of hallmarks; immune profile = layered omics. Neither reduces to one cause.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743200"/>
            <a:ext cx="5212080" cy="1417320"/>
          </a:xfrm>
          <a:prstGeom prst="roundRect">
            <a:avLst>
              <a:gd name="adj" fmla="val 3871"/>
            </a:avLst>
          </a:prstGeom>
          <a:solidFill>
            <a:srgbClr val="12304A"/>
          </a:solidFill>
          <a:ln w="15240">
            <a:solidFill>
              <a:srgbClr val="E8A2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2743200"/>
            <a:ext cx="91440" cy="1417320"/>
          </a:xfrm>
          <a:prstGeom prst="rect">
            <a:avLst/>
          </a:prstGeom>
          <a:solidFill>
            <a:srgbClr val="E8A23D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9077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description to intervention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33101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leads; senolytics, metabolic drugs &amp; partial reprogramming move from mice to first humans.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389120"/>
            <a:ext cx="5212080" cy="1417320"/>
          </a:xfrm>
          <a:prstGeom prst="roundRect">
            <a:avLst>
              <a:gd name="adj" fmla="val 3871"/>
            </a:avLst>
          </a:prstGeom>
          <a:solidFill>
            <a:srgbClr val="12304A"/>
          </a:solidFill>
          <a:ln w="15240">
            <a:solidFill>
              <a:srgbClr val="E055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389120"/>
            <a:ext cx="91440" cy="1417320"/>
          </a:xfrm>
          <a:prstGeom prst="rect">
            <a:avLst/>
          </a:prstGeom>
          <a:solidFill>
            <a:srgbClr val="E0556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5537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Profiles, not point scores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95604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Clocks (DNA, iAge) stratify risk and track response — powerful, not yet definitive clinical tests.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4389120"/>
            <a:ext cx="5212080" cy="1417320"/>
          </a:xfrm>
          <a:prstGeom prst="roundRect">
            <a:avLst>
              <a:gd name="adj" fmla="val 3871"/>
            </a:avLst>
          </a:prstGeom>
          <a:solidFill>
            <a:srgbClr val="12304A"/>
          </a:solidFill>
          <a:ln w="15240">
            <a:solidFill>
              <a:srgbClr val="27C2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4389120"/>
            <a:ext cx="91440" cy="1417320"/>
          </a:xfrm>
          <a:prstGeom prst="rect">
            <a:avLst/>
          </a:prstGeom>
          <a:solidFill>
            <a:srgbClr val="27C2B0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5537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Biology becomes computable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495604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cells &amp; DNA-LLM foundation models turn aging biology into something we can simulate and reason over.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7C2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it. Track it. Slow it. Eventually, simulate it.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C7F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C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371600" cy="0"/>
          </a:xfrm>
          <a:prstGeom prst="line">
            <a:avLst/>
          </a:prstGeom>
          <a:noFill/>
          <a:ln w="38100">
            <a:solidFill>
              <a:srgbClr val="6C7F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6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ts val="1030"/>
              </a:lnSpc>
              <a:buNone/>
            </a:pPr>
            <a:r>
              <a:rPr lang="en-US" sz="86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López-Otín, Blasco, Partridge, Serrano, Kroemer. Hallmarks of aging: An expanding universe. Cell 2023, 186(2):243–278.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548640" y="2340864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6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ts val="1030"/>
              </a:lnSpc>
              <a:buNone/>
            </a:pPr>
            <a:r>
              <a:rPr lang="en-US" sz="86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(Sinclair lab). Loss of epigenetic information as a cause of mammalian aging. Cell 2023, 186(2):305–326.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548640" y="2944368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6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ts val="1030"/>
              </a:lnSpc>
              <a:buNone/>
            </a:pPr>
            <a:r>
              <a:rPr lang="en-US" sz="86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Mavrommatis, Belsky, Ying, Moqri … Marioni. An unbiased comparison of 14 epigenetic clocks vs 174 incident disease outcomes. Nat. Commun. 2025 (10.1038/s41467-025-66106-y).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548640" y="354787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6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ts val="1030"/>
              </a:lnSpc>
              <a:buNone/>
            </a:pPr>
            <a:r>
              <a:rPr lang="en-US" sz="86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Waziry et al. CALERIE: caloric restriction &amp; pace of aging (DunedinPACE). Nature Aging 2023.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548640" y="4151376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6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lnSpc>
                <a:spcPts val="1030"/>
              </a:lnSpc>
              <a:buNone/>
            </a:pPr>
            <a:r>
              <a:rPr lang="en-US" sz="86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Bischoff-Ferrari et al. DO-HEALTH: vitamin D, omega-3, exercise &amp; epigenetic clocks. Nature Aging 2025.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548640" y="4754880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6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indent="0" marL="0">
              <a:lnSpc>
                <a:spcPts val="1030"/>
              </a:lnSpc>
              <a:buNone/>
            </a:pPr>
            <a:r>
              <a:rPr lang="en-US" sz="86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Lincoff et al. SELECT: semaglutide &amp; cardiovascular outcomes. New England Journal of Medicine 2023.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548640" y="5358384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6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pPr indent="0" marL="0">
              <a:lnSpc>
                <a:spcPts val="1030"/>
              </a:lnSpc>
              <a:buNone/>
            </a:pPr>
            <a:r>
              <a:rPr lang="en-US" sz="86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Hickson et al. Senolytics (Dasatinib + Quercetin) in humans. EBioMedicine 2019.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548640" y="5961888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6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</a:t>
            </a:r>
            <a:pPr indent="0" marL="0">
              <a:lnSpc>
                <a:spcPts val="1030"/>
              </a:lnSpc>
              <a:buNone/>
            </a:pPr>
            <a:r>
              <a:rPr lang="en-US" sz="86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Deursen. Senolytic therapies for healthy longevity. Science 2019.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4297680" y="1737360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6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</a:t>
            </a:r>
            <a:pPr indent="0" marL="0">
              <a:lnSpc>
                <a:spcPts val="1030"/>
              </a:lnSpc>
              <a:buNone/>
            </a:pPr>
            <a:r>
              <a:rPr lang="en-US" sz="86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Vinten et al. NAD+ precursor supplementation in human aging: clinical evidence and challenges. 2025–26.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4297680" y="2340864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6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</a:t>
            </a:r>
            <a:pPr indent="0" marL="0">
              <a:lnSpc>
                <a:spcPts val="1030"/>
              </a:lnSpc>
              <a:buNone/>
            </a:pPr>
            <a:r>
              <a:rPr lang="en-US" sz="86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Borsky, Holmannova … Horvath. Plasmapheresis &amp; biomarkers of aging (efficacy/safety trial). 2025.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4297680" y="2944368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6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</a:t>
            </a:r>
            <a:pPr indent="0" marL="0">
              <a:lnSpc>
                <a:spcPts val="1030"/>
              </a:lnSpc>
              <a:buNone/>
            </a:pPr>
            <a:r>
              <a:rPr lang="en-US" sz="86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 et al. Reprogramming to recover youthful epigenetic information and restore vision. Nature 2020, 588:124–129.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4297680" y="354787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6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</a:t>
            </a:r>
            <a:pPr indent="0" marL="0">
              <a:lnSpc>
                <a:spcPts val="1030"/>
              </a:lnSpc>
              <a:buNone/>
            </a:pPr>
            <a:r>
              <a:rPr lang="en-US" sz="86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Karr, Sanghvi, Macklin … Covert. A whole-cell computational model predicts phenotype from genotype. Cell 2012, 150(2):389–401.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4297680" y="4151376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6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 </a:t>
            </a:r>
            <a:pPr indent="0" marL="0">
              <a:lnSpc>
                <a:spcPts val="1030"/>
              </a:lnSpc>
              <a:buNone/>
            </a:pPr>
            <a:r>
              <a:rPr lang="en-US" sz="86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BIOREASON: Incentivizing Multimodal Biological Reasoning within a DNA-LLM Model. 2025 (Evo2 + Qwen3).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4297680" y="4754880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6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 </a:t>
            </a:r>
            <a:pPr indent="0" marL="0">
              <a:lnSpc>
                <a:spcPts val="1030"/>
              </a:lnSpc>
              <a:buNone/>
            </a:pPr>
            <a:r>
              <a:rPr lang="en-US" sz="86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Immunome Project — Scientific Approach. humanimmunomeproject.org.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4297680" y="5358384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6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 </a:t>
            </a:r>
            <a:pPr indent="0" marL="0">
              <a:lnSpc>
                <a:spcPts val="1030"/>
              </a:lnSpc>
              <a:buNone/>
            </a:pPr>
            <a:r>
              <a:rPr lang="en-US" sz="86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Sayed et al. An inflammatory aging clock (iAge). Nature Aging 2021.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4297680" y="5961888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6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 </a:t>
            </a:r>
            <a:pPr indent="0" marL="0">
              <a:lnSpc>
                <a:spcPts val="1030"/>
              </a:lnSpc>
              <a:buNone/>
            </a:pPr>
            <a:r>
              <a:rPr lang="en-US" sz="86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Fried, Tangen, Walston et al. Frailty in older adults: a phenotype. J Gerontol A 2001;56(3):M146–157.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8046720" y="1737360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6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 </a:t>
            </a:r>
            <a:pPr indent="0" marL="0">
              <a:lnSpc>
                <a:spcPts val="1030"/>
              </a:lnSpc>
              <a:buNone/>
            </a:pPr>
            <a:r>
              <a:rPr lang="en-US" sz="86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Rockwood, Song, MacKnight et al. Clinical Frailty Scale. CMAJ 2005;173(5):489–495.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8046720" y="2340864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6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 </a:t>
            </a:r>
            <a:pPr indent="0" marL="0">
              <a:lnSpc>
                <a:spcPts val="1030"/>
              </a:lnSpc>
              <a:buNone/>
            </a:pPr>
            <a:r>
              <a:rPr lang="en-US" sz="86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Cesari et al. Domains supporting intrinsic capacity. J Gerontol A 2018;73(12):1653–1660.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8046720" y="2944368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6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 </a:t>
            </a:r>
            <a:pPr indent="0" marL="0">
              <a:lnSpc>
                <a:spcPts val="1030"/>
              </a:lnSpc>
              <a:buNone/>
            </a:pPr>
            <a:r>
              <a:rPr lang="en-US" sz="86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WHO. Integrated Care for Older People (ICOPE) 2017 · Decade of Healthy Ageing 2021–2030.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8046720" y="354787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6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 </a:t>
            </a:r>
            <a:pPr indent="0" marL="0">
              <a:lnSpc>
                <a:spcPts val="1030"/>
              </a:lnSpc>
              <a:buNone/>
            </a:pPr>
            <a:r>
              <a:rPr lang="en-US" sz="86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 et al. scGPT: a foundation model for single-cell multi-omics. Nature Methods 2024;21:1470–1480.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8046720" y="4151376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6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 </a:t>
            </a:r>
            <a:pPr indent="0" marL="0">
              <a:lnSpc>
                <a:spcPts val="1030"/>
              </a:lnSpc>
              <a:buNone/>
            </a:pPr>
            <a:r>
              <a:rPr lang="en-US" sz="86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Theodoris et al. Transfer learning in network biology (Geneformer). Nature 2023;618:616–624.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8046720" y="4754880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6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 </a:t>
            </a:r>
            <a:pPr indent="0" marL="0">
              <a:lnSpc>
                <a:spcPts val="1030"/>
              </a:lnSpc>
              <a:buNone/>
            </a:pPr>
            <a:r>
              <a:rPr lang="en-US" sz="86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Hao et al. Large-scale foundation model on single-cell transcriptomics (scFoundation). Nat. Methods 2024;21:1481–1491.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8046720" y="5358384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6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  </a:t>
            </a:r>
            <a:pPr indent="0" marL="0">
              <a:lnSpc>
                <a:spcPts val="1030"/>
              </a:lnSpc>
              <a:buNone/>
            </a:pPr>
            <a:r>
              <a:rPr lang="en-US" sz="86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Bunne, Leskovec, Regev et al. How to build the virtual cell with AI. Cell 2024;187:7045–7063.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8046720" y="5961888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0"/>
              </a:lnSpc>
              <a:buNone/>
            </a:pPr>
            <a:r>
              <a:rPr lang="en-US" sz="860" b="1" dirty="0">
                <a:solidFill>
                  <a:srgbClr val="0E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  </a:t>
            </a:r>
            <a:pPr indent="0" marL="0">
              <a:lnSpc>
                <a:spcPts val="1030"/>
              </a:lnSpc>
              <a:buNone/>
            </a:pPr>
            <a:r>
              <a:rPr lang="en-US" sz="860" dirty="0">
                <a:solidFill>
                  <a:srgbClr val="16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Noetik (noetik.blog) · Recursion Q1-2026 (SEC 8-K) · Arc Institute Evo 2 · CZI rBio / CZI–NVIDIA, 2025.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Aging, Longevity &amp; the New Biology</dc:title>
  <dc:subject>PptxGenJS Presentation</dc:subject>
  <dc:creator>sj_lee</dc:creator>
  <cp:lastModifiedBy>sj_lee</cp:lastModifiedBy>
  <cp:revision>1</cp:revision>
  <dcterms:created xsi:type="dcterms:W3CDTF">2026-05-31T00:43:24Z</dcterms:created>
  <dcterms:modified xsi:type="dcterms:W3CDTF">2026-05-31T00:43:24Z</dcterms:modified>
</cp:coreProperties>
</file>